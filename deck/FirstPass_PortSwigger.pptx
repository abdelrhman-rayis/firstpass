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11"/>
    <p:restoredTop sz="94671"/>
  </p:normalViewPr>
  <p:slideViewPr>
    <p:cSldViewPr snapToGrid="0" snapToObjects="1">
      <p:cViewPr varScale="1">
        <p:scale>
          <a:sx n="93" d="100"/>
          <a:sy n="93" d="100"/>
        </p:scale>
        <p:origin x="240" y="8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AFE9EB-1BF6-3F4A-8DC7-595CB37B088A}" type="datetimeFigureOut">
              <a:t>7/8/26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CEF762E-083A-2A4D-A216-C81CCED43695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2964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EF762E-083A-2A4D-A216-C81CCED43695}" type="slidenum"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4676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777240" y="1481328"/>
            <a:ext cx="182880" cy="182880"/>
          </a:xfrm>
          <a:prstGeom prst="ellipse">
            <a:avLst/>
          </a:prstGeom>
          <a:solidFill>
            <a:srgbClr val="12A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69848" y="1481328"/>
            <a:ext cx="182880" cy="182880"/>
          </a:xfrm>
          <a:prstGeom prst="ellipse">
            <a:avLst/>
          </a:prstGeom>
          <a:solidFill>
            <a:srgbClr val="C0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362456" y="1481328"/>
            <a:ext cx="182880" cy="182880"/>
          </a:xfrm>
          <a:prstGeom prst="ellipse">
            <a:avLst/>
          </a:prstGeom>
          <a:solidFill>
            <a:srgbClr val="DE3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0664" y="1783080"/>
            <a:ext cx="91440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8200" b="1" i="0">
                <a:solidFill>
                  <a:srgbClr val="15171C"/>
                </a:solidFill>
                <a:latin typeface="Arial"/>
              </a:rPr>
              <a:t>FirstPass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154680"/>
            <a:ext cx="7680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300" b="1" i="0">
                <a:solidFill>
                  <a:srgbClr val="15171C"/>
                </a:solidFill>
                <a:latin typeface="Arial"/>
              </a:rPr>
              <a:t>Clearing the contract-review queue, and how I think.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767328"/>
            <a:ext cx="10058400" cy="2313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0" i="0">
                <a:solidFill>
                  <a:srgbClr val="5A6472"/>
                </a:solidFill>
                <a:highlight>
                  <a:srgbClr val="FFFF00"/>
                </a:highlight>
                <a:latin typeface="Arial"/>
              </a:rPr>
              <a:t>A working prototype</a:t>
            </a:r>
            <a:r>
              <a:rPr sz="1550" b="0" i="0">
                <a:solidFill>
                  <a:srgbClr val="5A6472"/>
                </a:solidFill>
                <a:latin typeface="Arial"/>
              </a:rPr>
              <a:t>, </a:t>
            </a:r>
            <a:r>
              <a:rPr sz="1550" b="0" i="0">
                <a:solidFill>
                  <a:srgbClr val="5A6472"/>
                </a:solidFill>
                <a:highlight>
                  <a:srgbClr val="FFFF00"/>
                </a:highlight>
                <a:latin typeface="Arial"/>
              </a:rPr>
              <a:t>a live console</a:t>
            </a:r>
            <a:r>
              <a:rPr sz="1550" b="0" i="0">
                <a:solidFill>
                  <a:srgbClr val="5A6472"/>
                </a:solidFill>
                <a:latin typeface="Arial"/>
              </a:rPr>
              <a:t>, and </a:t>
            </a:r>
            <a:r>
              <a:rPr sz="1550" b="0" i="0">
                <a:solidFill>
                  <a:srgbClr val="5A6472"/>
                </a:solidFill>
                <a:highlight>
                  <a:srgbClr val="FFFF00"/>
                </a:highlight>
                <a:latin typeface="Arial"/>
              </a:rPr>
              <a:t>measured results</a:t>
            </a:r>
            <a:r>
              <a:rPr sz="1550" b="0" i="0">
                <a:solidFill>
                  <a:srgbClr val="5A6472"/>
                </a:solidFill>
                <a:latin typeface="Arial"/>
              </a:rPr>
              <a:t>,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041648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0" i="0">
                <a:solidFill>
                  <a:srgbClr val="5A6472"/>
                </a:solidFill>
                <a:latin typeface="Arial"/>
              </a:rPr>
              <a:t>built to run entirely on your own servers.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21208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600" b="1" i="0">
                <a:solidFill>
                  <a:srgbClr val="15171C"/>
                </a:solidFill>
                <a:latin typeface="Arial"/>
              </a:rPr>
              <a:t>Abdelrhman Rayis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559552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0" i="0">
                <a:solidFill>
                  <a:srgbClr val="5A6472"/>
                </a:solidFill>
                <a:latin typeface="Arial"/>
              </a:rPr>
              <a:t>AI Pioneer  ·  work-sample presentation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45575" y="1828800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4000"/>
              </a:lnSpc>
            </a:pPr>
            <a:r>
              <a:rPr sz="1150" b="1" i="0">
                <a:solidFill>
                  <a:srgbClr val="9AA0AA"/>
                </a:solidFill>
                <a:latin typeface="Arial"/>
              </a:rPr>
              <a:t>RISK TRIAGE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45575" y="2212848"/>
            <a:ext cx="2560320" cy="457200"/>
          </a:xfrm>
          <a:prstGeom prst="roundRect">
            <a:avLst>
              <a:gd name="adj" fmla="val 50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50" b="1">
                <a:solidFill>
                  <a:srgbClr val="DE3226"/>
                </a:solidFill>
                <a:latin typeface="Arial"/>
              </a:rPr>
              <a:t>RED    escalate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45575" y="2761488"/>
            <a:ext cx="2560320" cy="457200"/>
          </a:xfrm>
          <a:prstGeom prst="roundRect">
            <a:avLst>
              <a:gd name="adj" fmla="val 50000"/>
            </a:avLst>
          </a:prstGeom>
          <a:solidFill>
            <a:srgbClr val="FBF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50" b="1">
                <a:solidFill>
                  <a:srgbClr val="C07C00"/>
                </a:solidFill>
                <a:latin typeface="Arial"/>
              </a:rPr>
              <a:t>AMBER    confirm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45575" y="3310128"/>
            <a:ext cx="2560320" cy="457200"/>
          </a:xfrm>
          <a:prstGeom prst="roundRect">
            <a:avLst>
              <a:gd name="adj" fmla="val 50000"/>
            </a:avLst>
          </a:prstGeom>
          <a:solidFill>
            <a:srgbClr val="E7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50" b="1">
                <a:solidFill>
                  <a:srgbClr val="12A150"/>
                </a:solidFill>
                <a:latin typeface="Arial"/>
              </a:rPr>
              <a:t>GREEN    auto-clear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25535" y="3977639"/>
            <a:ext cx="2880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4000"/>
              </a:lnSpc>
            </a:pPr>
            <a:r>
              <a:rPr sz="1150" b="1" i="0">
                <a:solidFill>
                  <a:srgbClr val="12A150"/>
                </a:solidFill>
                <a:latin typeface="Arial"/>
              </a:rPr>
              <a:t>🔒  on-prem  ·  local AI  ·  no cloud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6437376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9AA0AA"/>
                </a:solidFill>
                <a:latin typeface="Arial"/>
              </a:rPr>
              <a:t>FirstPass  ·  AI Pioneer  ·  Abdelrhman Rayis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77295" y="6437376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4000"/>
              </a:lnSpc>
            </a:pPr>
            <a:r>
              <a:rPr sz="950" b="0" i="0">
                <a:solidFill>
                  <a:srgbClr val="9AA0AA"/>
                </a:solidFill>
                <a:latin typeface="Arial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1" i="0">
                <a:solidFill>
                  <a:srgbClr val="E14E12"/>
                </a:solidFill>
                <a:latin typeface="Arial"/>
              </a:rPr>
              <a:t>WHAT I'LL COVER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41248"/>
            <a:ext cx="10637215" cy="4626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100" b="1" i="0">
                <a:solidFill>
                  <a:srgbClr val="15171C"/>
                </a:solidFill>
                <a:highlight>
                  <a:srgbClr val="FFFF00"/>
                </a:highlight>
                <a:latin typeface="Arial"/>
              </a:rPr>
              <a:t>Five short steps, the way I'd tackle any new problem.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2011680"/>
            <a:ext cx="457200" cy="457200"/>
          </a:xfrm>
          <a:prstGeom prst="ellipse">
            <a:avLst/>
          </a:prstGeom>
          <a:solidFill>
            <a:srgbClr val="FF6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975104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650" b="1" i="0">
                <a:solidFill>
                  <a:srgbClr val="15171C"/>
                </a:solidFill>
                <a:latin typeface="Arial"/>
              </a:rPr>
              <a:t>How I approach a problem I have not seen before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40864"/>
            <a:ext cx="9692640" cy="1864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4000"/>
              </a:lnSpc>
            </a:pPr>
            <a:r>
              <a:rPr lang="en-GB" sz="1200">
                <a:solidFill>
                  <a:srgbClr val="5A6472"/>
                </a:solidFill>
                <a:latin typeface="Arial"/>
              </a:rPr>
              <a:t>Mental Models </a:t>
            </a:r>
            <a:r>
              <a:rPr lang="en-US" sz="1250" b="0" i="0">
                <a:solidFill>
                  <a:srgbClr val="5A6472"/>
                </a:solidFill>
                <a:latin typeface="Arial"/>
              </a:rPr>
              <a:t>: </a:t>
            </a:r>
            <a:r>
              <a:rPr sz="1250" b="0" i="0">
                <a:solidFill>
                  <a:srgbClr val="5A6472"/>
                </a:solidFill>
                <a:latin typeface="Arial"/>
              </a:rPr>
              <a:t>First principles, five whys, systems thinking, 80/20.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2852928"/>
            <a:ext cx="457200" cy="457200"/>
          </a:xfrm>
          <a:prstGeom prst="ellipse">
            <a:avLst/>
          </a:prstGeom>
          <a:solidFill>
            <a:srgbClr val="FF6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2816352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650" b="1" i="0">
                <a:solidFill>
                  <a:srgbClr val="15171C"/>
                </a:solidFill>
                <a:latin typeface="Arial"/>
              </a:rPr>
              <a:t>The scenario, and its root cause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182112"/>
            <a:ext cx="9692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0" i="0">
                <a:solidFill>
                  <a:srgbClr val="5A6472"/>
                </a:solidFill>
                <a:latin typeface="Arial"/>
              </a:rPr>
              <a:t>Your contract queue, and why it really backs up.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3694176"/>
            <a:ext cx="457200" cy="457200"/>
          </a:xfrm>
          <a:prstGeom prst="ellipse">
            <a:avLst/>
          </a:prstGeom>
          <a:solidFill>
            <a:srgbClr val="FF6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3657600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650" b="1" i="0">
                <a:solidFill>
                  <a:srgbClr val="15171C"/>
                </a:solidFill>
                <a:latin typeface="Arial"/>
              </a:rPr>
              <a:t>FirstPass: the solution, running live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4023360"/>
            <a:ext cx="9692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0" i="0">
                <a:solidFill>
                  <a:srgbClr val="5A6472"/>
                </a:solidFill>
                <a:latin typeface="Arial"/>
              </a:rPr>
              <a:t>An agentic triage layer, in a browser, on your server.</a:t>
            </a:r>
          </a:p>
        </p:txBody>
      </p:sp>
      <p:sp>
        <p:nvSpPr>
          <p:cNvPr id="15" name="Oval 14"/>
          <p:cNvSpPr/>
          <p:nvPr/>
        </p:nvSpPr>
        <p:spPr>
          <a:xfrm>
            <a:off x="777240" y="4535424"/>
            <a:ext cx="457200" cy="457200"/>
          </a:xfrm>
          <a:prstGeom prst="ellipse">
            <a:avLst/>
          </a:prstGeom>
          <a:solidFill>
            <a:srgbClr val="FF6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4498848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650" b="1" i="0">
                <a:solidFill>
                  <a:srgbClr val="15171C"/>
                </a:solidFill>
                <a:latin typeface="Arial"/>
              </a:rPr>
              <a:t>Does it actually help?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4864608"/>
            <a:ext cx="9692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0" i="0">
                <a:solidFill>
                  <a:srgbClr val="5A6472"/>
                </a:solidFill>
                <a:latin typeface="Arial"/>
              </a:rPr>
              <a:t>Measured properly: safety, accuracy, hours saved.</a:t>
            </a:r>
          </a:p>
        </p:txBody>
      </p:sp>
      <p:sp>
        <p:nvSpPr>
          <p:cNvPr id="18" name="Oval 17"/>
          <p:cNvSpPr/>
          <p:nvPr/>
        </p:nvSpPr>
        <p:spPr>
          <a:xfrm>
            <a:off x="777240" y="5376672"/>
            <a:ext cx="457200" cy="457200"/>
          </a:xfrm>
          <a:prstGeom prst="ellipse">
            <a:avLst/>
          </a:prstGeom>
          <a:solidFill>
            <a:srgbClr val="FF6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5340096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650" b="1" i="0">
                <a:solidFill>
                  <a:srgbClr val="15171C"/>
                </a:solidFill>
                <a:latin typeface="Arial"/>
              </a:rPr>
              <a:t>Private by design, and how I would add value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5705856"/>
            <a:ext cx="9692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0" i="0">
                <a:solidFill>
                  <a:srgbClr val="5A6472"/>
                </a:solidFill>
                <a:latin typeface="Arial"/>
              </a:rPr>
              <a:t>Local AI, the standards that matter, and my fit.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6437376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9AA0AA"/>
                </a:solidFill>
                <a:latin typeface="Arial"/>
              </a:rPr>
              <a:t>FirstPass  ·  AI Pioneer  ·  Abdelrhman Rayis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77295" y="6437376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4000"/>
              </a:lnSpc>
            </a:pPr>
            <a:r>
              <a:rPr sz="950" b="0" i="0">
                <a:solidFill>
                  <a:srgbClr val="9AA0AA"/>
                </a:solidFill>
                <a:latin typeface="Arial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1" i="0">
                <a:solidFill>
                  <a:srgbClr val="E14E12"/>
                </a:solidFill>
                <a:latin typeface="Arial"/>
              </a:rPr>
              <a:t>THE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41248"/>
            <a:ext cx="10637215" cy="9587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100" b="1" i="0">
                <a:solidFill>
                  <a:srgbClr val="15171C"/>
                </a:solidFill>
                <a:highlight>
                  <a:srgbClr val="FFFF00"/>
                </a:highlight>
                <a:latin typeface="Arial"/>
              </a:rPr>
              <a:t>Value</a:t>
            </a:r>
            <a:r>
              <a:rPr sz="3100" b="1" i="0">
                <a:solidFill>
                  <a:srgbClr val="15171C"/>
                </a:solidFill>
                <a:latin typeface="Arial"/>
              </a:rPr>
              <a:t> from day one: a skill that grows into an agentic loop.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62455" y="1993392"/>
            <a:ext cx="1133856" cy="365760"/>
          </a:xfrm>
          <a:prstGeom prst="roundRect">
            <a:avLst>
              <a:gd name="adj" fmla="val 50000"/>
            </a:avLst>
          </a:prstGeom>
          <a:solidFill>
            <a:srgbClr val="FC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2000" b="1">
                <a:solidFill>
                  <a:srgbClr val="E14E12"/>
                </a:solidFill>
                <a:latin typeface="Arial"/>
              </a:rPr>
              <a:t>DAY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487168"/>
            <a:ext cx="2304288" cy="1536192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14983" y="2688336"/>
            <a:ext cx="384048" cy="384048"/>
          </a:xfrm>
          <a:prstGeom prst="ellipse">
            <a:avLst/>
          </a:prstGeom>
          <a:solidFill>
            <a:srgbClr val="FF6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734056"/>
            <a:ext cx="14356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500" b="1" i="0">
                <a:solidFill>
                  <a:srgbClr val="15171C"/>
                </a:solidFill>
                <a:latin typeface="Arial"/>
              </a:rPr>
              <a:t>Skill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3218688"/>
            <a:ext cx="1828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472"/>
                </a:solidFill>
                <a:latin typeface="Arial"/>
              </a:rPr>
              <a:t>Deploy the contract-triage skill, after understanding the business.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72968" y="3072384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4000"/>
              </a:lnSpc>
            </a:pPr>
            <a:r>
              <a:rPr sz="2000" b="1" i="0">
                <a:solidFill>
                  <a:srgbClr val="FF6633"/>
                </a:solidFill>
                <a:latin typeface="Arial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0" y="1993392"/>
            <a:ext cx="1133856" cy="365760"/>
          </a:xfrm>
          <a:prstGeom prst="roundRect">
            <a:avLst>
              <a:gd name="adj" fmla="val 50000"/>
            </a:avLst>
          </a:prstGeom>
          <a:solidFill>
            <a:srgbClr val="FC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2000" b="1">
                <a:solidFill>
                  <a:srgbClr val="E14E12"/>
                </a:solidFill>
                <a:latin typeface="Arial"/>
              </a:rPr>
              <a:t>DAY 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9584" y="2487168"/>
            <a:ext cx="2304288" cy="1536192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3767328" y="2688336"/>
            <a:ext cx="384048" cy="384048"/>
          </a:xfrm>
          <a:prstGeom prst="ellipse">
            <a:avLst/>
          </a:prstGeom>
          <a:solidFill>
            <a:srgbClr val="FF6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61104" y="2734056"/>
            <a:ext cx="1435608" cy="2238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500" b="1" i="0">
                <a:solidFill>
                  <a:srgbClr val="15171C"/>
                </a:solidFill>
                <a:latin typeface="Arial"/>
              </a:rPr>
              <a:t>Agent memory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85615" y="3218688"/>
            <a:ext cx="1828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472"/>
                </a:solidFill>
                <a:latin typeface="Arial"/>
              </a:rPr>
              <a:t>The playbook becomes the agent's memory of standard positions.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25312" y="3072384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4000"/>
              </a:lnSpc>
            </a:pPr>
            <a:r>
              <a:rPr sz="2000" b="1" i="0">
                <a:solidFill>
                  <a:srgbClr val="FF6633"/>
                </a:solidFill>
                <a:latin typeface="Arial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67143" y="1993392"/>
            <a:ext cx="1133856" cy="365760"/>
          </a:xfrm>
          <a:prstGeom prst="roundRect">
            <a:avLst>
              <a:gd name="adj" fmla="val 50000"/>
            </a:avLst>
          </a:prstGeom>
          <a:solidFill>
            <a:srgbClr val="FC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2000" b="1">
                <a:solidFill>
                  <a:srgbClr val="E14E12"/>
                </a:solidFill>
                <a:latin typeface="Arial"/>
              </a:rPr>
              <a:t>WEEK 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81927" y="2487168"/>
            <a:ext cx="2304288" cy="1536192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6519671" y="2688336"/>
            <a:ext cx="384048" cy="384048"/>
          </a:xfrm>
          <a:prstGeom prst="ellipse">
            <a:avLst/>
          </a:prstGeom>
          <a:solidFill>
            <a:srgbClr val="FF6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13447" y="2734056"/>
            <a:ext cx="14356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500" b="1" i="0">
                <a:solidFill>
                  <a:srgbClr val="15171C"/>
                </a:solidFill>
                <a:latin typeface="Arial"/>
              </a:rPr>
              <a:t>System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59" y="3218688"/>
            <a:ext cx="1828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472"/>
                </a:solidFill>
                <a:latin typeface="Arial"/>
              </a:rPr>
              <a:t>The console, routing and evals grow around it.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77655" y="3072384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4000"/>
              </a:lnSpc>
            </a:pPr>
            <a:r>
              <a:rPr sz="2000" b="1" i="0">
                <a:solidFill>
                  <a:srgbClr val="FF6633"/>
                </a:solidFill>
                <a:latin typeface="Arial"/>
              </a:rPr>
              <a:t>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19488" y="1993392"/>
            <a:ext cx="1133856" cy="365760"/>
          </a:xfrm>
          <a:prstGeom prst="roundRect">
            <a:avLst>
              <a:gd name="adj" fmla="val 50000"/>
            </a:avLst>
          </a:prstGeom>
          <a:solidFill>
            <a:srgbClr val="FC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2000" b="1">
                <a:solidFill>
                  <a:srgbClr val="E14E12"/>
                </a:solidFill>
                <a:latin typeface="Arial"/>
              </a:rPr>
              <a:t>WEEK 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34272" y="2487168"/>
            <a:ext cx="2304288" cy="1536192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9272015" y="2688336"/>
            <a:ext cx="384048" cy="384048"/>
          </a:xfrm>
          <a:prstGeom prst="ellipse">
            <a:avLst/>
          </a:prstGeom>
          <a:solidFill>
            <a:srgbClr val="FF6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65792" y="2734056"/>
            <a:ext cx="14356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500" b="1" i="0">
                <a:solidFill>
                  <a:srgbClr val="15171C"/>
                </a:solidFill>
                <a:latin typeface="Arial"/>
              </a:rPr>
              <a:t>Agentic loop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90303" y="3218688"/>
            <a:ext cx="1828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472"/>
                </a:solidFill>
                <a:latin typeface="Arial"/>
              </a:rPr>
              <a:t>The full loop, with the learning flywheel.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" y="4224528"/>
            <a:ext cx="10637215" cy="502920"/>
          </a:xfrm>
          <a:prstGeom prst="roundRect">
            <a:avLst>
              <a:gd name="adj" fmla="val 14000"/>
            </a:avLst>
          </a:prstGeom>
          <a:solidFill>
            <a:srgbClr val="FC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97280" y="4334256"/>
            <a:ext cx="10088575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1" i="0">
                <a:solidFill>
                  <a:srgbClr val="E14E12"/>
                </a:solidFill>
                <a:latin typeface="Arial"/>
              </a:rPr>
              <a:t>↺   Feedback loop: gather feedback and improve every two weeks. The queue gets shorter each cycle.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" y="4956048"/>
            <a:ext cx="10637215" cy="960120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88136" y="51023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1" i="0">
                <a:solidFill>
                  <a:srgbClr val="9AA0AA"/>
                </a:solidFill>
                <a:latin typeface="Arial"/>
              </a:rPr>
              <a:t>WHERE IT RUNS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88136" y="5413248"/>
            <a:ext cx="3520440" cy="402336"/>
          </a:xfrm>
          <a:prstGeom prst="roundRect">
            <a:avLst>
              <a:gd name="adj" fmla="val 50000"/>
            </a:avLst>
          </a:prstGeom>
          <a:solidFill>
            <a:srgbClr val="EC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5A6472"/>
                </a:solidFill>
                <a:latin typeface="Arial"/>
              </a:rPr>
              <a:t>Cloud, fast: synthetic test data, no GDPR issue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90872" y="552297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4000"/>
              </a:lnSpc>
            </a:pPr>
            <a:r>
              <a:rPr sz="1600" b="1" i="0">
                <a:solidFill>
                  <a:srgbClr val="FF6633"/>
                </a:solidFill>
                <a:latin typeface="Arial"/>
              </a:rPr>
              <a:t>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01768" y="5413248"/>
            <a:ext cx="3794760" cy="402336"/>
          </a:xfrm>
          <a:prstGeom prst="roundRect">
            <a:avLst>
              <a:gd name="adj" fmla="val 50000"/>
            </a:avLst>
          </a:prstGeom>
          <a:solidFill>
            <a:srgbClr val="E7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12A150"/>
                </a:solidFill>
                <a:latin typeface="Arial"/>
              </a:rPr>
              <a:t>🔒  Local </a:t>
            </a:r>
            <a:r>
              <a:rPr sz="1100" b="1">
                <a:solidFill>
                  <a:srgbClr val="12A150"/>
                </a:solidFill>
                <a:highlight>
                  <a:srgbClr val="FFFF00"/>
                </a:highlight>
                <a:latin typeface="Arial"/>
              </a:rPr>
              <a:t>Hermes</a:t>
            </a:r>
            <a:r>
              <a:rPr sz="1100" b="1">
                <a:solidFill>
                  <a:srgbClr val="12A150"/>
                </a:solidFill>
                <a:latin typeface="Arial"/>
              </a:rPr>
              <a:t>, on your server: real data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75495" y="5142945"/>
            <a:ext cx="2208785" cy="5629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1">
                <a:solidFill>
                  <a:srgbClr val="394150"/>
                </a:solidFill>
                <a:latin typeface="Arial"/>
              </a:rPr>
              <a:t>When real client data is involved, reasoning moves in-house. Value fast, privacy kept.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6437376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9AA0AA"/>
                </a:solidFill>
                <a:latin typeface="Arial"/>
              </a:rPr>
              <a:t>FirstPass  ·  AI Pioneer  ·  Abdelrhman Rayis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77295" y="6437376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4000"/>
              </a:lnSpc>
            </a:pPr>
            <a:r>
              <a:rPr sz="950" b="0" i="0">
                <a:solidFill>
                  <a:srgbClr val="9AA0AA"/>
                </a:solidFill>
                <a:latin typeface="Arial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07040" cy="2686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b="1" i="0">
                <a:solidFill>
                  <a:srgbClr val="E14E12"/>
                </a:solidFill>
                <a:highlight>
                  <a:srgbClr val="FFFF00"/>
                </a:highlight>
                <a:latin typeface="Arial"/>
              </a:rPr>
              <a:t>HOW I THINK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41248"/>
            <a:ext cx="10637215" cy="9587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100" b="1" i="0">
                <a:solidFill>
                  <a:srgbClr val="15171C"/>
                </a:solidFill>
                <a:latin typeface="Arial"/>
              </a:rPr>
              <a:t>I don't jump to a solution</a:t>
            </a:r>
            <a:r>
              <a:rPr lang="en-US" sz="3100" b="1" i="0">
                <a:solidFill>
                  <a:srgbClr val="15171C"/>
                </a:solidFill>
                <a:latin typeface="Arial"/>
              </a:rPr>
              <a:t>!</a:t>
            </a:r>
            <a:r>
              <a:rPr sz="3100" b="1" i="0">
                <a:solidFill>
                  <a:srgbClr val="15171C"/>
                </a:solidFill>
                <a:latin typeface="Arial"/>
              </a:rPr>
              <a:t>. I find the </a:t>
            </a:r>
            <a:r>
              <a:rPr sz="3100" b="1" i="0">
                <a:solidFill>
                  <a:srgbClr val="FF0000"/>
                </a:solidFill>
                <a:latin typeface="Arial"/>
              </a:rPr>
              <a:t>root</a:t>
            </a:r>
            <a:r>
              <a:rPr sz="3100" b="1" i="0">
                <a:solidFill>
                  <a:srgbClr val="15171C"/>
                </a:solidFill>
                <a:latin typeface="Arial"/>
              </a:rPr>
              <a:t> of the problem first.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47088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 i="0">
                <a:solidFill>
                  <a:srgbClr val="5A6472"/>
                </a:solidFill>
                <a:latin typeface="Arial"/>
              </a:rPr>
              <a:t>Four mental models I reach for before writing a line of code: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377440"/>
            <a:ext cx="2453563" cy="2606040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69848" y="2670048"/>
            <a:ext cx="237744" cy="237744"/>
          </a:xfrm>
          <a:prstGeom prst="ellipse">
            <a:avLst/>
          </a:prstGeom>
          <a:solidFill>
            <a:srgbClr val="FF6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3127248"/>
            <a:ext cx="1996363" cy="2313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 i="0">
                <a:solidFill>
                  <a:srgbClr val="15171C"/>
                </a:solidFill>
                <a:highlight>
                  <a:srgbClr val="FFFF00"/>
                </a:highlight>
                <a:latin typeface="Arial"/>
              </a:rPr>
              <a:t>First principles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529584"/>
            <a:ext cx="1959787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5A6472"/>
                </a:solidFill>
                <a:latin typeface="Arial"/>
              </a:rPr>
              <a:t>Strip the task to its atoms. What is really being decided here?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05123" y="2377440"/>
            <a:ext cx="2453563" cy="2606040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3797731" y="2670048"/>
            <a:ext cx="237744" cy="237744"/>
          </a:xfrm>
          <a:prstGeom prst="ellipse">
            <a:avLst/>
          </a:prstGeom>
          <a:solidFill>
            <a:srgbClr val="FF6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779443" y="3127248"/>
            <a:ext cx="1996363" cy="2313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 i="0">
                <a:solidFill>
                  <a:srgbClr val="15171C"/>
                </a:solidFill>
                <a:highlight>
                  <a:srgbClr val="FFFF00"/>
                </a:highlight>
                <a:latin typeface="Arial"/>
              </a:rPr>
              <a:t>Five whys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79443" y="3529584"/>
            <a:ext cx="1959787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5A6472"/>
                </a:solidFill>
                <a:latin typeface="Arial"/>
              </a:rPr>
              <a:t>Keep asking why until the symptom gives up its root cause.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3007" y="2377440"/>
            <a:ext cx="2453563" cy="2606040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6525615" y="2670048"/>
            <a:ext cx="237744" cy="237744"/>
          </a:xfrm>
          <a:prstGeom prst="ellipse">
            <a:avLst/>
          </a:prstGeom>
          <a:solidFill>
            <a:srgbClr val="FF6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07327" y="3127248"/>
            <a:ext cx="1996363" cy="2313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 i="0">
                <a:solidFill>
                  <a:srgbClr val="15171C"/>
                </a:solidFill>
                <a:highlight>
                  <a:srgbClr val="FFFF00"/>
                </a:highlight>
                <a:latin typeface="Arial"/>
              </a:rPr>
              <a:t>Systems thinking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7327" y="3529584"/>
            <a:ext cx="1959787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5A6472"/>
                </a:solidFill>
                <a:latin typeface="Arial"/>
              </a:rPr>
              <a:t>Look at the whole flow. Where is the constraint, and the leverage?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60891" y="2377440"/>
            <a:ext cx="2453563" cy="2606040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9253499" y="2670048"/>
            <a:ext cx="237744" cy="237744"/>
          </a:xfrm>
          <a:prstGeom prst="ellipse">
            <a:avLst/>
          </a:prstGeom>
          <a:solidFill>
            <a:srgbClr val="FF6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235211" y="3127248"/>
            <a:ext cx="1996363" cy="2313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 i="0">
                <a:solidFill>
                  <a:srgbClr val="15171C"/>
                </a:solidFill>
                <a:highlight>
                  <a:srgbClr val="FFFF00"/>
                </a:highlight>
                <a:latin typeface="Arial"/>
              </a:rPr>
              <a:t>80 / 20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211" y="3529584"/>
            <a:ext cx="1959787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5A6472"/>
                </a:solidFill>
                <a:latin typeface="Arial"/>
              </a:rPr>
              <a:t>Find the small share of cases that carries most of the value and risk.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257800"/>
            <a:ext cx="106372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0" i="1">
                <a:solidFill>
                  <a:srgbClr val="394150"/>
                </a:solidFill>
                <a:latin typeface="Arial"/>
              </a:rPr>
              <a:t>The point: a creative solution is worthless if it solves the wrong problem. Models keep me honest.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F6CAC92A-62E8-2DAF-E7D7-A7430A4ACC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453" y="2360070"/>
            <a:ext cx="820459" cy="625112"/>
          </a:xfrm>
          <a:prstGeom prst="rect">
            <a:avLst/>
          </a:prstGeom>
        </p:spPr>
      </p:pic>
      <p:pic>
        <p:nvPicPr>
          <p:cNvPr id="26" name="Picture 25" descr="A red and orange gear with question marks&#10;&#10;AI-generated content may be incorrect.">
            <a:extLst>
              <a:ext uri="{FF2B5EF4-FFF2-40B4-BE49-F238E27FC236}">
                <a16:creationId xmlns:a16="http://schemas.microsoft.com/office/drawing/2014/main" id="{87A017AC-BD8F-37FF-C262-20AF35700F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5123" y="2377440"/>
            <a:ext cx="768096" cy="585216"/>
          </a:xfrm>
          <a:prstGeom prst="rect">
            <a:avLst/>
          </a:prstGeom>
        </p:spPr>
      </p:pic>
      <p:pic>
        <p:nvPicPr>
          <p:cNvPr id="28" name="Picture 27" descr="A colorful gears with lines and dots&#10;&#10;AI-generated content may be incorrect.">
            <a:extLst>
              <a:ext uri="{FF2B5EF4-FFF2-40B4-BE49-F238E27FC236}">
                <a16:creationId xmlns:a16="http://schemas.microsoft.com/office/drawing/2014/main" id="{C3FFE758-D4E4-01E0-BFDC-77AB380A86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3005" y="2404871"/>
            <a:ext cx="805103" cy="582221"/>
          </a:xfrm>
          <a:prstGeom prst="rect">
            <a:avLst/>
          </a:prstGeom>
        </p:spPr>
      </p:pic>
      <p:pic>
        <p:nvPicPr>
          <p:cNvPr id="30" name="Picture 29" descr="A black scale with colorful crystals in it&#10;&#10;AI-generated content may be incorrect.">
            <a:extLst>
              <a:ext uri="{FF2B5EF4-FFF2-40B4-BE49-F238E27FC236}">
                <a16:creationId xmlns:a16="http://schemas.microsoft.com/office/drawing/2014/main" id="{12AE7C3B-BB29-512A-AABA-09C1816FA5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0891" y="2397575"/>
            <a:ext cx="889692" cy="64339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6437376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9AA0AA"/>
                </a:solidFill>
                <a:latin typeface="Arial"/>
              </a:rPr>
              <a:t>FirstPass  ·  AI Pioneer  ·  Abdelrhman Rayis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77295" y="6437376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4000"/>
              </a:lnSpc>
            </a:pPr>
            <a:r>
              <a:rPr sz="950" b="0" i="0">
                <a:solidFill>
                  <a:srgbClr val="9AA0AA"/>
                </a:solidFill>
                <a:latin typeface="Arial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1" i="0">
                <a:solidFill>
                  <a:srgbClr val="E14E12"/>
                </a:solidFill>
                <a:latin typeface="Arial"/>
              </a:rPr>
              <a:t>THE SCENARIO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41248"/>
            <a:ext cx="10637215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100" b="1" i="0">
                <a:solidFill>
                  <a:srgbClr val="15171C"/>
                </a:solidFill>
                <a:latin typeface="Arial"/>
              </a:rPr>
              <a:t>The case in front of me: a queue longer than the day.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47088"/>
            <a:ext cx="10637215" cy="1481328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97280" y="2048256"/>
            <a:ext cx="9997135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 i="1">
                <a:solidFill>
                  <a:srgbClr val="15171C"/>
                </a:solidFill>
                <a:latin typeface="Arial"/>
              </a:rPr>
              <a:t>“Most are 80% boilerplate. Where we get redlines, they are usually edits we have seen before. Right now, every single contract still gets read by a person, and the queue is usually longer than the day. At end of month or quarter it can get overwhelming.”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03580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 i="0">
                <a:solidFill>
                  <a:srgbClr val="9AA0AA"/>
                </a:solidFill>
                <a:latin typeface="Arial"/>
              </a:rPr>
              <a:t>PortSwigger, the task brief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611880"/>
            <a:ext cx="3362858" cy="1481328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51560" y="3785615"/>
            <a:ext cx="290565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400" b="1" i="0">
                <a:solidFill>
                  <a:srgbClr val="C07C00"/>
                </a:solidFill>
                <a:latin typeface="Arial"/>
              </a:rPr>
              <a:t>80%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443984"/>
            <a:ext cx="285993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5A6472"/>
                </a:solidFill>
                <a:latin typeface="Arial"/>
              </a:rPr>
              <a:t>of a typical contract is boilerplate, agreed a hundred times before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4418" y="3611880"/>
            <a:ext cx="3362858" cy="1481328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88738" y="3785615"/>
            <a:ext cx="290565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400" b="1" i="0">
                <a:solidFill>
                  <a:srgbClr val="DE3226"/>
                </a:solidFill>
                <a:latin typeface="Arial"/>
              </a:rPr>
              <a:t>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8738" y="4443984"/>
            <a:ext cx="285993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5A6472"/>
                </a:solidFill>
                <a:latin typeface="Arial"/>
              </a:rPr>
              <a:t>still get a full cold read by a scarce, expensive human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51596" y="3611880"/>
            <a:ext cx="3362858" cy="1481328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25916" y="3785615"/>
            <a:ext cx="290565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400" b="1" i="0">
                <a:solidFill>
                  <a:srgbClr val="E14E12"/>
                </a:solidFill>
                <a:latin typeface="Arial"/>
              </a:rPr>
              <a:t>EoQ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5916" y="4443984"/>
            <a:ext cx="285993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5A6472"/>
                </a:solidFill>
                <a:latin typeface="Arial"/>
              </a:rPr>
              <a:t>sales spikes turn the queue into a bottleneck on revenue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321808"/>
            <a:ext cx="10058400" cy="2014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0" i="1">
                <a:solidFill>
                  <a:srgbClr val="394150"/>
                </a:solidFill>
                <a:latin typeface="Arial"/>
              </a:rPr>
              <a:t>The cost is not just time. </a:t>
            </a:r>
            <a:r>
              <a:rPr sz="1350" b="0" i="1">
                <a:solidFill>
                  <a:srgbClr val="394150"/>
                </a:solidFill>
                <a:highlight>
                  <a:srgbClr val="FFFF00"/>
                </a:highlight>
                <a:latin typeface="Arial"/>
              </a:rPr>
              <a:t>A slow queue slows every deal sitting behind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6437376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9AA0AA"/>
                </a:solidFill>
                <a:latin typeface="Arial"/>
              </a:rPr>
              <a:t>FirstPass  ·  AI Pioneer  ·  Abdelrhman Rayis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77295" y="6437376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4000"/>
              </a:lnSpc>
            </a:pPr>
            <a:r>
              <a:rPr sz="950" b="0" i="0">
                <a:solidFill>
                  <a:srgbClr val="9AA0AA"/>
                </a:solidFill>
                <a:latin typeface="Arial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07040" cy="298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 i="0">
                <a:solidFill>
                  <a:srgbClr val="E14E12"/>
                </a:solidFill>
                <a:highlight>
                  <a:srgbClr val="FFFF00"/>
                </a:highlight>
                <a:latin typeface="Arial"/>
              </a:rPr>
              <a:t>FIVE WHYS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41248"/>
            <a:ext cx="10637215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100" b="1" i="0">
                <a:solidFill>
                  <a:srgbClr val="15171C"/>
                </a:solidFill>
                <a:latin typeface="Arial"/>
              </a:rPr>
              <a:t>Drilling past the symptom to the root of the issue.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1783080"/>
            <a:ext cx="384048" cy="384048"/>
          </a:xfrm>
          <a:prstGeom prst="ellipse">
            <a:avLst/>
          </a:prstGeom>
          <a:solidFill>
            <a:srgbClr val="151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0744" y="1764792"/>
            <a:ext cx="4754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15171C"/>
                </a:solidFill>
                <a:latin typeface="Arial"/>
              </a:rPr>
              <a:t>Why is the queue longer than the day?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801368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4000"/>
              </a:lnSpc>
            </a:pPr>
            <a:r>
              <a:rPr sz="1500" b="1" i="0">
                <a:solidFill>
                  <a:srgbClr val="FF6633"/>
                </a:solidFill>
                <a:latin typeface="Arial"/>
              </a:rPr>
              <a:t>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1764792"/>
            <a:ext cx="478505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0">
                <a:solidFill>
                  <a:srgbClr val="5A6472"/>
                </a:solidFill>
                <a:latin typeface="Arial"/>
              </a:rPr>
              <a:t>Every contract gets a full human read.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2441448"/>
            <a:ext cx="384048" cy="384048"/>
          </a:xfrm>
          <a:prstGeom prst="ellipse">
            <a:avLst/>
          </a:prstGeom>
          <a:solidFill>
            <a:srgbClr val="151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0744" y="2423160"/>
            <a:ext cx="4754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15171C"/>
                </a:solidFill>
                <a:latin typeface="Arial"/>
              </a:rPr>
              <a:t>Why does each one need a full read?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45973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4000"/>
              </a:lnSpc>
            </a:pPr>
            <a:r>
              <a:rPr sz="1500" b="1" i="0">
                <a:solidFill>
                  <a:srgbClr val="FF6633"/>
                </a:solidFill>
                <a:latin typeface="Arial"/>
              </a:rPr>
              <a:t>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423160"/>
            <a:ext cx="478505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0">
                <a:solidFill>
                  <a:srgbClr val="5A6472"/>
                </a:solidFill>
                <a:latin typeface="Arial"/>
              </a:rPr>
              <a:t>It is read cold, start to finish, every time.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099815"/>
            <a:ext cx="384048" cy="384048"/>
          </a:xfrm>
          <a:prstGeom prst="ellipse">
            <a:avLst/>
          </a:prstGeom>
          <a:solidFill>
            <a:srgbClr val="151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0744" y="3081527"/>
            <a:ext cx="4754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15171C"/>
                </a:solidFill>
                <a:latin typeface="Arial"/>
              </a:rPr>
              <a:t>Why is it read cold?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3118103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4000"/>
              </a:lnSpc>
            </a:pPr>
            <a:r>
              <a:rPr sz="1500" b="1" i="0">
                <a:solidFill>
                  <a:srgbClr val="FF6633"/>
                </a:solidFill>
                <a:latin typeface="Arial"/>
              </a:rPr>
              <a:t>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081527"/>
            <a:ext cx="478505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0">
                <a:solidFill>
                  <a:srgbClr val="5A6472"/>
                </a:solidFill>
                <a:latin typeface="Arial"/>
              </a:rPr>
              <a:t>There is no way to tell the safe ones from the risky ones up front.</a:t>
            </a:r>
          </a:p>
        </p:txBody>
      </p:sp>
      <p:sp>
        <p:nvSpPr>
          <p:cNvPr id="18" name="Oval 17"/>
          <p:cNvSpPr/>
          <p:nvPr/>
        </p:nvSpPr>
        <p:spPr>
          <a:xfrm>
            <a:off x="777240" y="3758183"/>
            <a:ext cx="384048" cy="384048"/>
          </a:xfrm>
          <a:prstGeom prst="ellipse">
            <a:avLst/>
          </a:prstGeom>
          <a:solidFill>
            <a:srgbClr val="151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0744" y="3739896"/>
            <a:ext cx="4754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15171C"/>
                </a:solidFill>
                <a:latin typeface="Arial"/>
              </a:rPr>
              <a:t>Why can't we tell them apart?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3776471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4000"/>
              </a:lnSpc>
            </a:pPr>
            <a:r>
              <a:rPr sz="1500" b="1" i="0">
                <a:solidFill>
                  <a:srgbClr val="FF6633"/>
                </a:solidFill>
                <a:latin typeface="Arial"/>
              </a:rPr>
              <a:t>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3739896"/>
            <a:ext cx="478505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0">
                <a:solidFill>
                  <a:srgbClr val="5A6472"/>
                </a:solidFill>
                <a:latin typeface="Arial"/>
              </a:rPr>
              <a:t>The team's standard positions live in people's heads, not in a checkable form.</a:t>
            </a:r>
          </a:p>
        </p:txBody>
      </p:sp>
      <p:sp>
        <p:nvSpPr>
          <p:cNvPr id="22" name="Oval 21"/>
          <p:cNvSpPr/>
          <p:nvPr/>
        </p:nvSpPr>
        <p:spPr>
          <a:xfrm>
            <a:off x="777240" y="4416551"/>
            <a:ext cx="384048" cy="384048"/>
          </a:xfrm>
          <a:prstGeom prst="ellipse">
            <a:avLst/>
          </a:prstGeom>
          <a:solidFill>
            <a:srgbClr val="151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80744" y="4398264"/>
            <a:ext cx="4754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15171C"/>
                </a:solidFill>
                <a:latin typeface="Arial"/>
              </a:rPr>
              <a:t>Why is that the case?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4434839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4000"/>
              </a:lnSpc>
            </a:pPr>
            <a:r>
              <a:rPr sz="1500" b="1" i="0">
                <a:solidFill>
                  <a:srgbClr val="FF6633"/>
                </a:solidFill>
                <a:latin typeface="Arial"/>
              </a:rPr>
              <a:t>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4398264"/>
            <a:ext cx="478505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0">
                <a:solidFill>
                  <a:srgbClr val="5A6472"/>
                </a:solidFill>
                <a:latin typeface="Arial"/>
              </a:rPr>
              <a:t>The process was built around people, with no triage layer in front of it.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5138928"/>
            <a:ext cx="10637215" cy="960120"/>
          </a:xfrm>
          <a:prstGeom prst="roundRect">
            <a:avLst>
              <a:gd name="adj" fmla="val 4500"/>
            </a:avLst>
          </a:prstGeom>
          <a:solidFill>
            <a:srgbClr val="FC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97280" y="528523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1" i="0">
                <a:solidFill>
                  <a:srgbClr val="E14E12"/>
                </a:solidFill>
                <a:latin typeface="Arial"/>
              </a:rPr>
              <a:t>ROOT CAUSE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5559552"/>
            <a:ext cx="999713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15171C"/>
                </a:solidFill>
                <a:latin typeface="Arial"/>
              </a:rPr>
              <a:t>A lawyer's scarce attention is spent identically on the safe 80% and the risky 20%. There is no risk-based triage. That is what I need to fix, not the reading speed.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6437376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9AA0AA"/>
                </a:solidFill>
                <a:latin typeface="Arial"/>
              </a:rPr>
              <a:t>FirstPass  ·  AI Pioneer  ·  Abdelrhman Rayis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77295" y="6437376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4000"/>
              </a:lnSpc>
            </a:pPr>
            <a:r>
              <a:rPr sz="950" b="0" i="0">
                <a:solidFill>
                  <a:srgbClr val="9AA0AA"/>
                </a:solidFill>
                <a:latin typeface="Arial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07040" cy="298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 i="0">
                <a:solidFill>
                  <a:srgbClr val="E14E12"/>
                </a:solidFill>
                <a:highlight>
                  <a:srgbClr val="FFFF00"/>
                </a:highlight>
                <a:latin typeface="Arial"/>
              </a:rPr>
              <a:t>FIRST PRINCIPLES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41248"/>
            <a:ext cx="10637215" cy="9587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100" b="1" i="0">
                <a:solidFill>
                  <a:srgbClr val="15171C"/>
                </a:solidFill>
                <a:latin typeface="Arial"/>
              </a:rPr>
              <a:t>Reframed: contract review is </a:t>
            </a:r>
            <a:r>
              <a:rPr sz="3100" b="1" i="0">
                <a:solidFill>
                  <a:srgbClr val="15171C"/>
                </a:solidFill>
                <a:highlight>
                  <a:srgbClr val="FFFF00"/>
                </a:highlight>
                <a:latin typeface="Arial"/>
              </a:rPr>
              <a:t>a risk gate</a:t>
            </a:r>
            <a:r>
              <a:rPr sz="3100" b="1" i="0">
                <a:solidFill>
                  <a:srgbClr val="15171C"/>
                </a:solidFill>
                <a:latin typeface="Arial"/>
              </a:rPr>
              <a:t>, not a reading task.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10512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 i="0">
                <a:solidFill>
                  <a:srgbClr val="5A6472"/>
                </a:solidFill>
                <a:latin typeface="Arial"/>
              </a:rPr>
              <a:t>Strip it to the atoms and every review is the same five decisions: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86000"/>
            <a:ext cx="1847088" cy="1051560"/>
          </a:xfrm>
          <a:prstGeom prst="roundRect">
            <a:avLst>
              <a:gd name="adj" fmla="val 100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rIns="9144" rtlCol="0" anchor="ctr"/>
          <a:lstStyle/>
          <a:p>
            <a:pPr algn="ctr"/>
            <a:r>
              <a:rPr sz="1300" b="1">
                <a:solidFill>
                  <a:srgbClr val="15171C"/>
                </a:solidFill>
                <a:latin typeface="Arial"/>
              </a:rPr>
              <a:t>Read</a:t>
            </a:r>
          </a:p>
        </p:txBody>
      </p:sp>
      <p:sp>
        <p:nvSpPr>
          <p:cNvPr id="8" name="Oval 7"/>
          <p:cNvSpPr/>
          <p:nvPr/>
        </p:nvSpPr>
        <p:spPr>
          <a:xfrm>
            <a:off x="905256" y="2414016"/>
            <a:ext cx="310896" cy="310896"/>
          </a:xfrm>
          <a:prstGeom prst="ellipse">
            <a:avLst/>
          </a:prstGeom>
          <a:solidFill>
            <a:srgbClr val="FF6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269748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4000"/>
              </a:lnSpc>
            </a:pPr>
            <a:r>
              <a:rPr sz="1900" b="1" i="0">
                <a:solidFill>
                  <a:srgbClr val="FF6633"/>
                </a:solidFill>
                <a:latin typeface="Arial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35224" y="2286000"/>
            <a:ext cx="1847088" cy="1051560"/>
          </a:xfrm>
          <a:prstGeom prst="roundRect">
            <a:avLst>
              <a:gd name="adj" fmla="val 100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rIns="9144" rtlCol="0" anchor="ctr"/>
          <a:lstStyle/>
          <a:p>
            <a:pPr algn="ctr"/>
            <a:r>
              <a:rPr sz="1300" b="1">
                <a:solidFill>
                  <a:srgbClr val="15171C"/>
                </a:solidFill>
                <a:latin typeface="Arial"/>
              </a:rPr>
              <a:t>Classify</a:t>
            </a:r>
          </a:p>
        </p:txBody>
      </p:sp>
      <p:sp>
        <p:nvSpPr>
          <p:cNvPr id="11" name="Oval 10"/>
          <p:cNvSpPr/>
          <p:nvPr/>
        </p:nvSpPr>
        <p:spPr>
          <a:xfrm>
            <a:off x="3063240" y="2414016"/>
            <a:ext cx="310896" cy="310896"/>
          </a:xfrm>
          <a:prstGeom prst="ellipse">
            <a:avLst/>
          </a:prstGeom>
          <a:solidFill>
            <a:srgbClr val="FF6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9744" y="269748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4000"/>
              </a:lnSpc>
            </a:pPr>
            <a:r>
              <a:rPr sz="1900" b="1" i="0">
                <a:solidFill>
                  <a:srgbClr val="FF6633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93208" y="2286000"/>
            <a:ext cx="1847088" cy="1051560"/>
          </a:xfrm>
          <a:prstGeom prst="roundRect">
            <a:avLst>
              <a:gd name="adj" fmla="val 100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rIns="9144" rtlCol="0" anchor="ctr"/>
          <a:lstStyle/>
          <a:p>
            <a:pPr algn="ctr"/>
            <a:r>
              <a:rPr sz="1300" b="1">
                <a:solidFill>
                  <a:srgbClr val="15171C"/>
                </a:solidFill>
                <a:latin typeface="Arial"/>
              </a:rPr>
              <a:t>Compare
to standard</a:t>
            </a:r>
          </a:p>
        </p:txBody>
      </p:sp>
      <p:sp>
        <p:nvSpPr>
          <p:cNvPr id="14" name="Oval 13"/>
          <p:cNvSpPr/>
          <p:nvPr/>
        </p:nvSpPr>
        <p:spPr>
          <a:xfrm>
            <a:off x="5221224" y="2414016"/>
            <a:ext cx="310896" cy="310896"/>
          </a:xfrm>
          <a:prstGeom prst="ellipse">
            <a:avLst/>
          </a:prstGeom>
          <a:solidFill>
            <a:srgbClr val="FF6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67728" y="269748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4000"/>
              </a:lnSpc>
            </a:pPr>
            <a:r>
              <a:rPr sz="1900" b="1" i="0">
                <a:solidFill>
                  <a:srgbClr val="FF6633"/>
                </a:solidFill>
                <a:latin typeface="Arial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51192" y="2286000"/>
            <a:ext cx="1847088" cy="1051560"/>
          </a:xfrm>
          <a:prstGeom prst="roundRect">
            <a:avLst>
              <a:gd name="adj" fmla="val 100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rIns="9144" rtlCol="0" anchor="ctr"/>
          <a:lstStyle/>
          <a:p>
            <a:pPr algn="ctr"/>
            <a:r>
              <a:rPr sz="1300" b="1">
                <a:solidFill>
                  <a:srgbClr val="15171C"/>
                </a:solidFill>
                <a:latin typeface="Arial"/>
              </a:rPr>
              <a:t>Spot the
deviation</a:t>
            </a:r>
          </a:p>
        </p:txBody>
      </p:sp>
      <p:sp>
        <p:nvSpPr>
          <p:cNvPr id="17" name="Oval 16"/>
          <p:cNvSpPr/>
          <p:nvPr/>
        </p:nvSpPr>
        <p:spPr>
          <a:xfrm>
            <a:off x="7379208" y="2414016"/>
            <a:ext cx="310896" cy="310896"/>
          </a:xfrm>
          <a:prstGeom prst="ellipse">
            <a:avLst/>
          </a:prstGeom>
          <a:solidFill>
            <a:srgbClr val="FF6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25711" y="269748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4000"/>
              </a:lnSpc>
            </a:pPr>
            <a:r>
              <a:rPr sz="1900" b="1" i="0">
                <a:solidFill>
                  <a:srgbClr val="FF6633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409176" y="2286000"/>
            <a:ext cx="1847088" cy="1051560"/>
          </a:xfrm>
          <a:prstGeom prst="roundRect">
            <a:avLst>
              <a:gd name="adj" fmla="val 100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rIns="9144" rtlCol="0" anchor="ctr"/>
          <a:lstStyle/>
          <a:p>
            <a:pPr algn="ctr"/>
            <a:r>
              <a:rPr sz="1300" b="1">
                <a:solidFill>
                  <a:srgbClr val="15171C"/>
                </a:solidFill>
                <a:latin typeface="Arial"/>
              </a:rPr>
              <a:t>Accept /
redline /
escalate</a:t>
            </a:r>
          </a:p>
        </p:txBody>
      </p:sp>
      <p:sp>
        <p:nvSpPr>
          <p:cNvPr id="20" name="Oval 19"/>
          <p:cNvSpPr/>
          <p:nvPr/>
        </p:nvSpPr>
        <p:spPr>
          <a:xfrm>
            <a:off x="9537192" y="2414016"/>
            <a:ext cx="310896" cy="310896"/>
          </a:xfrm>
          <a:prstGeom prst="ellipse">
            <a:avLst/>
          </a:prstGeom>
          <a:solidFill>
            <a:srgbClr val="FF6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794760"/>
            <a:ext cx="10637215" cy="1691640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97280" y="3977639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150" b="1" i="0">
                <a:solidFill>
                  <a:srgbClr val="E14E12"/>
                </a:solidFill>
                <a:latin typeface="Arial"/>
              </a:rPr>
              <a:t>THE INSIGHT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4279392"/>
            <a:ext cx="999713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450" b="1">
                <a:solidFill>
                  <a:srgbClr val="15171C"/>
                </a:solidFill>
                <a:latin typeface="Arial"/>
              </a:rPr>
              <a:t>Only </a:t>
            </a:r>
            <a:r>
              <a:rPr sz="1450" b="1">
                <a:solidFill>
                  <a:srgbClr val="15171C"/>
                </a:solidFill>
                <a:highlight>
                  <a:srgbClr val="FFFF00"/>
                </a:highlight>
                <a:latin typeface="Arial"/>
              </a:rPr>
              <a:t>two</a:t>
            </a:r>
            <a:r>
              <a:rPr sz="1450" b="1">
                <a:solidFill>
                  <a:srgbClr val="15171C"/>
                </a:solidFill>
                <a:latin typeface="Arial"/>
              </a:rPr>
              <a:t> of those five steps need legal judgement. The rest is </a:t>
            </a:r>
            <a:r>
              <a:rPr sz="1450" b="1">
                <a:solidFill>
                  <a:srgbClr val="FF0000"/>
                </a:solidFill>
                <a:latin typeface="Arial"/>
              </a:rPr>
              <a:t>mechanical</a:t>
            </a:r>
            <a:r>
              <a:rPr sz="1450" b="1">
                <a:solidFill>
                  <a:srgbClr val="15171C"/>
                </a:solidFill>
                <a:latin typeface="Arial"/>
              </a:rPr>
              <a:t>.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450" b="0">
                <a:solidFill>
                  <a:srgbClr val="394150"/>
                </a:solidFill>
                <a:latin typeface="Arial"/>
              </a:rPr>
              <a:t>80% of contracts are boilerplate, and the redlines that come up are edits seen before: a finite, reusable playbook. So the share needing net-new legal thinking is small, and it shrinks as the playbook fills. Yet today one scarce resource, a lawyer's attention, is spent identically on the safe 80% and the risky 20%.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6437376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9AA0AA"/>
                </a:solidFill>
                <a:latin typeface="Arial"/>
              </a:rPr>
              <a:t>FirstPass  ·  AI Pioneer  ·  Abdelrhman Rayis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77295" y="6437376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4000"/>
              </a:lnSpc>
            </a:pPr>
            <a:r>
              <a:rPr sz="950" b="0" i="0">
                <a:solidFill>
                  <a:srgbClr val="9AA0AA"/>
                </a:solidFill>
                <a:latin typeface="Arial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07040" cy="298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 i="0">
                <a:solidFill>
                  <a:srgbClr val="E14E12"/>
                </a:solidFill>
                <a:highlight>
                  <a:srgbClr val="FFFF00"/>
                </a:highlight>
                <a:latin typeface="Arial"/>
              </a:rPr>
              <a:t>SYSTEMS THINKING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41248"/>
            <a:ext cx="10637215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100" b="1" i="0">
                <a:solidFill>
                  <a:srgbClr val="15171C"/>
                </a:solidFill>
                <a:latin typeface="Arial"/>
              </a:rPr>
              <a:t>The fix is structural: insert a triage layer.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1" i="0">
                <a:solidFill>
                  <a:srgbClr val="DE3226"/>
                </a:solidFill>
                <a:latin typeface="Arial"/>
              </a:rPr>
              <a:t>TODAY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57984"/>
            <a:ext cx="585216" cy="475488"/>
          </a:xfrm>
          <a:prstGeom prst="roundRect">
            <a:avLst>
              <a:gd name="adj" fmla="val 100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rIns="9144" rtlCol="0" anchor="ctr"/>
          <a:lstStyle/>
          <a:p>
            <a:pPr algn="ctr"/>
            <a:r>
              <a:rPr sz="1000" b="1">
                <a:solidFill>
                  <a:srgbClr val="5A6472"/>
                </a:solidFill>
                <a:latin typeface="Arial"/>
              </a:rPr>
              <a:t>NDA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53895" y="2157984"/>
            <a:ext cx="585216" cy="475488"/>
          </a:xfrm>
          <a:prstGeom prst="roundRect">
            <a:avLst>
              <a:gd name="adj" fmla="val 100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rIns="9144" rtlCol="0" anchor="ctr"/>
          <a:lstStyle/>
          <a:p>
            <a:pPr algn="ctr"/>
            <a:r>
              <a:rPr sz="1000" b="1">
                <a:solidFill>
                  <a:srgbClr val="5A6472"/>
                </a:solidFill>
                <a:latin typeface="Arial"/>
              </a:rPr>
              <a:t>Form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30552" y="2157984"/>
            <a:ext cx="585216" cy="475488"/>
          </a:xfrm>
          <a:prstGeom prst="roundRect">
            <a:avLst>
              <a:gd name="adj" fmla="val 100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rIns="9144" rtlCol="0" anchor="ctr"/>
          <a:lstStyle/>
          <a:p>
            <a:pPr algn="ctr"/>
            <a:r>
              <a:rPr sz="1000" b="1">
                <a:solidFill>
                  <a:srgbClr val="5A6472"/>
                </a:solidFill>
                <a:latin typeface="Arial"/>
              </a:rPr>
              <a:t>NDA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07208" y="2157984"/>
            <a:ext cx="585216" cy="475488"/>
          </a:xfrm>
          <a:prstGeom prst="roundRect">
            <a:avLst>
              <a:gd name="adj" fmla="val 100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rIns="9144" rtlCol="0" anchor="ctr"/>
          <a:lstStyle/>
          <a:p>
            <a:pPr algn="ctr"/>
            <a:r>
              <a:rPr sz="1000" b="1">
                <a:solidFill>
                  <a:srgbClr val="5A6472"/>
                </a:solidFill>
                <a:latin typeface="Arial"/>
              </a:rPr>
              <a:t>Form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02152" y="2249424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4000"/>
              </a:lnSpc>
            </a:pPr>
            <a:r>
              <a:rPr sz="1600" b="1" i="0">
                <a:solidFill>
                  <a:srgbClr val="FF6633"/>
                </a:solidFill>
                <a:latin typeface="Arial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76472" y="2048256"/>
            <a:ext cx="1600200" cy="694944"/>
          </a:xfrm>
          <a:prstGeom prst="roundRect">
            <a:avLst>
              <a:gd name="adj" fmla="val 10000"/>
            </a:avLst>
          </a:prstGeom>
          <a:solidFill>
            <a:srgbClr val="DE3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rIns="9144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one human queue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212848"/>
            <a:ext cx="5669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0" i="1">
                <a:solidFill>
                  <a:srgbClr val="394150"/>
                </a:solidFill>
                <a:latin typeface="Arial"/>
              </a:rPr>
              <a:t>Every item pays the same full cost. Volume spikes have nowhere to go.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0896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1" i="0">
                <a:solidFill>
                  <a:srgbClr val="12A150"/>
                </a:solidFill>
                <a:latin typeface="Arial"/>
              </a:rPr>
              <a:t>WITH FIRSTPASS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456432"/>
            <a:ext cx="1234440" cy="777240"/>
          </a:xfrm>
          <a:prstGeom prst="roundRect">
            <a:avLst>
              <a:gd name="adj" fmla="val 100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rIns="9144" rtlCol="0" anchor="ctr"/>
          <a:lstStyle/>
          <a:p>
            <a:pPr algn="ctr"/>
            <a:r>
              <a:rPr sz="1100" b="1">
                <a:solidFill>
                  <a:srgbClr val="15171C"/>
                </a:solidFill>
                <a:latin typeface="Arial"/>
              </a:rPr>
              <a:t>contracts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12264" y="369417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4000"/>
              </a:lnSpc>
            </a:pPr>
            <a:r>
              <a:rPr sz="1600" b="1" i="0">
                <a:solidFill>
                  <a:srgbClr val="FF6633"/>
                </a:solidFill>
                <a:latin typeface="Arial"/>
              </a:rPr>
              <a:t>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386584" y="3456432"/>
            <a:ext cx="1463040" cy="777240"/>
          </a:xfrm>
          <a:prstGeom prst="roundRect">
            <a:avLst>
              <a:gd name="adj" fmla="val 10000"/>
            </a:avLst>
          </a:prstGeom>
          <a:solidFill>
            <a:srgbClr val="FF6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rIns="9144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triage layer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087368" y="3346704"/>
            <a:ext cx="2697480" cy="402336"/>
          </a:xfrm>
          <a:prstGeom prst="roundRect">
            <a:avLst>
              <a:gd name="adj" fmla="val 50000"/>
            </a:avLst>
          </a:prstGeom>
          <a:solidFill>
            <a:srgbClr val="E7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50" b="1">
                <a:solidFill>
                  <a:srgbClr val="12A150"/>
                </a:solidFill>
                <a:latin typeface="Arial"/>
              </a:rPr>
              <a:t>GREEN  auto-clear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87368" y="3803904"/>
            <a:ext cx="2697480" cy="402336"/>
          </a:xfrm>
          <a:prstGeom prst="roundRect">
            <a:avLst>
              <a:gd name="adj" fmla="val 50000"/>
            </a:avLst>
          </a:prstGeom>
          <a:solidFill>
            <a:srgbClr val="FBF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50" b="1">
                <a:solidFill>
                  <a:srgbClr val="C07C00"/>
                </a:solidFill>
                <a:latin typeface="Arial"/>
              </a:rPr>
              <a:t>AMBER  confirm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87368" y="4261104"/>
            <a:ext cx="2697480" cy="402336"/>
          </a:xfrm>
          <a:prstGeom prst="roundRect">
            <a:avLst>
              <a:gd name="adj" fmla="val 50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50" b="1">
                <a:solidFill>
                  <a:srgbClr val="DE3226"/>
                </a:solidFill>
                <a:latin typeface="Arial"/>
              </a:rPr>
              <a:t>RED  escalate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0" y="3246120"/>
            <a:ext cx="4282135" cy="1463040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406640" y="3401568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1" i="0">
                <a:solidFill>
                  <a:srgbClr val="E14E12"/>
                </a:solidFill>
                <a:latin typeface="Arial"/>
              </a:rPr>
              <a:t>You already do this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3730752"/>
            <a:ext cx="382493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394150"/>
                </a:solidFill>
                <a:latin typeface="Arial"/>
              </a:rPr>
              <a:t>Burp Suite triages security findings by severity so humans focus on the real threats. FirstPass is the same move, pointed at the contract queue.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074920"/>
            <a:ext cx="106372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0" i="1">
                <a:solidFill>
                  <a:srgbClr val="394150"/>
                </a:solidFill>
                <a:latin typeface="Arial"/>
              </a:rPr>
              <a:t>Leverage point: route attention by risk, so human judgement flows only to the 20% that needs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6437376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9AA0AA"/>
                </a:solidFill>
                <a:latin typeface="Arial"/>
              </a:rPr>
              <a:t>FirstPass  ·  AI Pioneer  ·  Abdelrhman Rayis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77295" y="6437376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4000"/>
              </a:lnSpc>
            </a:pPr>
            <a:r>
              <a:rPr sz="950" b="0" i="0">
                <a:solidFill>
                  <a:srgbClr val="9AA0AA"/>
                </a:solidFill>
                <a:latin typeface="Arial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1" i="0">
                <a:solidFill>
                  <a:srgbClr val="E14E12"/>
                </a:solidFill>
                <a:latin typeface="Arial"/>
              </a:rPr>
              <a:t>BUSINESS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41248"/>
            <a:ext cx="10637215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100" b="1" i="0">
                <a:solidFill>
                  <a:srgbClr val="15171C"/>
                </a:solidFill>
                <a:latin typeface="Arial"/>
              </a:rPr>
              <a:t>The process, its friction, and the right fix at each step.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10512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 i="1">
                <a:solidFill>
                  <a:srgbClr val="5A6472"/>
                </a:solidFill>
                <a:latin typeface="Arial"/>
              </a:rPr>
              <a:t>Not everything should be AI. I picked the right tool for each point in the process.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13432"/>
            <a:ext cx="24688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 i="0">
                <a:solidFill>
                  <a:srgbClr val="15171C"/>
                </a:solidFill>
                <a:latin typeface="Arial"/>
              </a:rPr>
              <a:t>Intake &amp; parse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19272" y="2286000"/>
            <a:ext cx="4892040" cy="40607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5A6472"/>
                </a:solidFill>
                <a:latin typeface="Arial"/>
              </a:rPr>
              <a:t>Mixed formats, manual logging, no priority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94150"/>
                </a:solidFill>
                <a:latin typeface="Arial"/>
              </a:rPr>
              <a:t>Auto-ingest and extract. This is </a:t>
            </a:r>
            <a:r>
              <a:rPr sz="1150" b="1">
                <a:solidFill>
                  <a:srgbClr val="394150"/>
                </a:solidFill>
                <a:highlight>
                  <a:srgbClr val="FFFF00"/>
                </a:highlight>
                <a:latin typeface="Arial"/>
              </a:rPr>
              <a:t>n8n / RPA territory</a:t>
            </a:r>
            <a:r>
              <a:rPr sz="1150" b="1">
                <a:solidFill>
                  <a:srgbClr val="394150"/>
                </a:solidFill>
                <a:latin typeface="Arial"/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58200" y="2414016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2F6FB0"/>
                </a:solidFill>
                <a:latin typeface="Arial"/>
              </a:rPr>
              <a:t>AUTOMATION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53512"/>
            <a:ext cx="24688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 i="0">
                <a:solidFill>
                  <a:srgbClr val="15171C"/>
                </a:solidFill>
                <a:latin typeface="Arial"/>
              </a:rPr>
              <a:t>Classify &amp; pull terms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9272" y="2926080"/>
            <a:ext cx="4892040" cy="40607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5A6472"/>
                </a:solidFill>
                <a:latin typeface="Arial"/>
              </a:rPr>
              <a:t>Implicit, redone by hand every time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94150"/>
                </a:solidFill>
                <a:latin typeface="Arial"/>
              </a:rPr>
              <a:t>The </a:t>
            </a:r>
            <a:r>
              <a:rPr sz="1150" b="1">
                <a:solidFill>
                  <a:srgbClr val="394150"/>
                </a:solidFill>
                <a:highlight>
                  <a:srgbClr val="FFFF00"/>
                </a:highlight>
                <a:latin typeface="Arial"/>
              </a:rPr>
              <a:t>model</a:t>
            </a:r>
            <a:r>
              <a:rPr sz="1150" b="1">
                <a:solidFill>
                  <a:srgbClr val="394150"/>
                </a:solidFill>
                <a:latin typeface="Arial"/>
              </a:rPr>
              <a:t> reads and understands the document.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58200" y="3054096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C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E14E12"/>
                </a:solidFill>
                <a:latin typeface="Arial"/>
              </a:rPr>
              <a:t>AGENTIC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593592"/>
            <a:ext cx="24688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 i="0">
                <a:solidFill>
                  <a:srgbClr val="15171C"/>
                </a:solidFill>
                <a:latin typeface="Arial"/>
              </a:rPr>
              <a:t>Check the playbook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19272" y="3566160"/>
            <a:ext cx="4892040" cy="40607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5A6472"/>
                </a:solidFill>
                <a:latin typeface="Arial"/>
              </a:rPr>
              <a:t>Standard positions live in people's heads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94150"/>
                </a:solidFill>
                <a:highlight>
                  <a:srgbClr val="FFFF00"/>
                </a:highlight>
                <a:latin typeface="Arial"/>
              </a:rPr>
              <a:t>Retrieve</a:t>
            </a:r>
            <a:r>
              <a:rPr sz="1150" b="1">
                <a:solidFill>
                  <a:srgbClr val="394150"/>
                </a:solidFill>
                <a:latin typeface="Arial"/>
              </a:rPr>
              <a:t> the position, match the clause by meaning.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58200" y="3694176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C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E14E12"/>
                </a:solidFill>
                <a:latin typeface="Arial"/>
              </a:rPr>
              <a:t>AGENTIC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233672"/>
            <a:ext cx="24688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 i="0">
                <a:solidFill>
                  <a:srgbClr val="15171C"/>
                </a:solidFill>
                <a:latin typeface="Arial"/>
              </a:rPr>
              <a:t>Spot risk &amp; red flags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9272" y="4206240"/>
            <a:ext cx="4892040" cy="40607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5A6472"/>
                </a:solidFill>
                <a:latin typeface="Arial"/>
              </a:rPr>
              <a:t>Fatigue, and the risky 20% slips through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94150"/>
                </a:solidFill>
                <a:latin typeface="Arial"/>
              </a:rPr>
              <a:t>Rules for hard flags, the </a:t>
            </a:r>
            <a:r>
              <a:rPr sz="1150" b="1">
                <a:solidFill>
                  <a:srgbClr val="394150"/>
                </a:solidFill>
                <a:highlight>
                  <a:srgbClr val="FFFF00"/>
                </a:highlight>
                <a:latin typeface="Arial"/>
              </a:rPr>
              <a:t>agent</a:t>
            </a:r>
            <a:r>
              <a:rPr sz="1150" b="1">
                <a:solidFill>
                  <a:srgbClr val="394150"/>
                </a:solidFill>
                <a:latin typeface="Arial"/>
              </a:rPr>
              <a:t> for paraphrase and novelty.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58200" y="4334256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BF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C07C00"/>
                </a:solidFill>
                <a:latin typeface="Arial"/>
              </a:rPr>
              <a:t>HYBRID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873752"/>
            <a:ext cx="24688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 i="0">
                <a:solidFill>
                  <a:srgbClr val="15171C"/>
                </a:solidFill>
                <a:latin typeface="Arial"/>
              </a:rPr>
              <a:t>Draft redline &amp; route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19272" y="4846320"/>
            <a:ext cx="4892040" cy="40607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5A6472"/>
                </a:solidFill>
                <a:latin typeface="Arial"/>
              </a:rPr>
              <a:t>Re-writing edits seen before; first-in-first-out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94150"/>
                </a:solidFill>
                <a:latin typeface="Arial"/>
              </a:rPr>
              <a:t>Draft from the </a:t>
            </a:r>
            <a:r>
              <a:rPr sz="1150" b="1">
                <a:solidFill>
                  <a:srgbClr val="394150"/>
                </a:solidFill>
                <a:highlight>
                  <a:srgbClr val="FFFF00"/>
                </a:highlight>
                <a:latin typeface="Arial"/>
              </a:rPr>
              <a:t>playbook</a:t>
            </a:r>
            <a:r>
              <a:rPr sz="1150" b="1">
                <a:solidFill>
                  <a:srgbClr val="394150"/>
                </a:solidFill>
                <a:latin typeface="Arial"/>
              </a:rPr>
              <a:t>, score GREEN / AMBER / RED.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58200" y="4974336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C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E14E12"/>
                </a:solidFill>
                <a:latin typeface="Arial"/>
              </a:rPr>
              <a:t>AGENTIC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513832"/>
            <a:ext cx="24688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 i="0">
                <a:solidFill>
                  <a:srgbClr val="15171C"/>
                </a:solidFill>
                <a:latin typeface="Arial"/>
              </a:rPr>
              <a:t>Decide &amp; capture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19272" y="5486400"/>
            <a:ext cx="4892040" cy="40607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5A6472"/>
                </a:solidFill>
                <a:latin typeface="Arial"/>
              </a:rPr>
              <a:t>Nothing is learned; novel issues re-solved each time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94150"/>
                </a:solidFill>
                <a:latin typeface="Arial"/>
              </a:rPr>
              <a:t>The lawyer decides RED; the decision feeds the </a:t>
            </a:r>
            <a:r>
              <a:rPr sz="1150" b="1">
                <a:solidFill>
                  <a:srgbClr val="394150"/>
                </a:solidFill>
                <a:highlight>
                  <a:srgbClr val="FFFF00"/>
                </a:highlight>
                <a:latin typeface="Arial"/>
              </a:rPr>
              <a:t>knowledge base</a:t>
            </a:r>
            <a:r>
              <a:rPr sz="1150" b="1">
                <a:solidFill>
                  <a:srgbClr val="394150"/>
                </a:solidFill>
                <a:latin typeface="Arial"/>
              </a:rPr>
              <a:t>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58200" y="5614416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E7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12A150"/>
                </a:solidFill>
                <a:latin typeface="Arial"/>
              </a:rPr>
              <a:t>HUMAN + LOOP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6437376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9AA0AA"/>
                </a:solidFill>
                <a:latin typeface="Arial"/>
              </a:rPr>
              <a:t>FirstPass  ·  AI Pioneer  ·  Abdelrhman Rayis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77295" y="6437376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4000"/>
              </a:lnSpc>
            </a:pPr>
            <a:r>
              <a:rPr sz="950" b="0" i="0">
                <a:solidFill>
                  <a:srgbClr val="9AA0AA"/>
                </a:solidFill>
                <a:latin typeface="Arial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1" i="0">
                <a:solidFill>
                  <a:srgbClr val="E14E12"/>
                </a:solidFill>
                <a:latin typeface="Arial"/>
              </a:rPr>
              <a:t>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41248"/>
            <a:ext cx="10637215" cy="9587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100" b="1" i="0">
                <a:solidFill>
                  <a:srgbClr val="15171C"/>
                </a:solidFill>
                <a:latin typeface="Arial"/>
              </a:rPr>
              <a:t>One </a:t>
            </a:r>
            <a:r>
              <a:rPr sz="3100" b="1" i="0">
                <a:solidFill>
                  <a:srgbClr val="15171C"/>
                </a:solidFill>
                <a:highlight>
                  <a:srgbClr val="FFFF00"/>
                </a:highlight>
                <a:latin typeface="Arial"/>
              </a:rPr>
              <a:t>agentic loop</a:t>
            </a:r>
            <a:r>
              <a:rPr sz="3100" b="1" i="0">
                <a:solidFill>
                  <a:srgbClr val="15171C"/>
                </a:solidFill>
                <a:latin typeface="Arial"/>
              </a:rPr>
              <a:t>: contract in, a routed and redlined decision out.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1371600" cy="914400"/>
          </a:xfrm>
          <a:prstGeom prst="roundRect">
            <a:avLst>
              <a:gd name="adj" fmla="val 100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rIns="9144" rtlCol="0" anchor="ctr"/>
          <a:lstStyle/>
          <a:p>
            <a:pPr algn="ctr"/>
            <a:r>
              <a:rPr sz="1100" b="1">
                <a:solidFill>
                  <a:srgbClr val="15171C"/>
                </a:solidFill>
                <a:latin typeface="Arial"/>
              </a:rPr>
              <a:t>Ingest</a:t>
            </a:r>
          </a:p>
        </p:txBody>
      </p:sp>
      <p:sp>
        <p:nvSpPr>
          <p:cNvPr id="7" name="Oval 6"/>
          <p:cNvSpPr/>
          <p:nvPr/>
        </p:nvSpPr>
        <p:spPr>
          <a:xfrm>
            <a:off x="886968" y="2258568"/>
            <a:ext cx="274320" cy="274320"/>
          </a:xfrm>
          <a:prstGeom prst="ellipse">
            <a:avLst/>
          </a:prstGeom>
          <a:solidFill>
            <a:srgbClr val="FF6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39696" y="2487168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4000"/>
              </a:lnSpc>
            </a:pPr>
            <a:r>
              <a:rPr sz="1500" b="1" i="0">
                <a:solidFill>
                  <a:srgbClr val="FF6633"/>
                </a:solidFill>
                <a:latin typeface="Arial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95144" y="2148840"/>
            <a:ext cx="1371600" cy="914400"/>
          </a:xfrm>
          <a:prstGeom prst="roundRect">
            <a:avLst>
              <a:gd name="adj" fmla="val 100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rIns="9144" rtlCol="0" anchor="ctr"/>
          <a:lstStyle/>
          <a:p>
            <a:pPr algn="ctr"/>
            <a:r>
              <a:rPr sz="1100" b="1">
                <a:solidFill>
                  <a:srgbClr val="15171C"/>
                </a:solidFill>
                <a:latin typeface="Arial"/>
              </a:rPr>
              <a:t>Classify</a:t>
            </a:r>
          </a:p>
        </p:txBody>
      </p:sp>
      <p:sp>
        <p:nvSpPr>
          <p:cNvPr id="10" name="Oval 9"/>
          <p:cNvSpPr/>
          <p:nvPr/>
        </p:nvSpPr>
        <p:spPr>
          <a:xfrm>
            <a:off x="2404872" y="2258568"/>
            <a:ext cx="274320" cy="274320"/>
          </a:xfrm>
          <a:prstGeom prst="ellipse">
            <a:avLst/>
          </a:prstGeom>
          <a:solidFill>
            <a:srgbClr val="FF6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487168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4000"/>
              </a:lnSpc>
            </a:pPr>
            <a:r>
              <a:rPr sz="1500" b="1" i="0">
                <a:solidFill>
                  <a:srgbClr val="FF6633"/>
                </a:solidFill>
                <a:latin typeface="Arial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13048" y="2148840"/>
            <a:ext cx="1371600" cy="914400"/>
          </a:xfrm>
          <a:prstGeom prst="roundRect">
            <a:avLst>
              <a:gd name="adj" fmla="val 100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rIns="9144" rtlCol="0" anchor="ctr"/>
          <a:lstStyle/>
          <a:p>
            <a:pPr algn="ctr"/>
            <a:r>
              <a:rPr sz="1100" b="1">
                <a:solidFill>
                  <a:srgbClr val="15171C"/>
                </a:solidFill>
                <a:latin typeface="Arial"/>
              </a:rPr>
              <a:t>Retrieve
playbook</a:t>
            </a:r>
          </a:p>
        </p:txBody>
      </p:sp>
      <p:sp>
        <p:nvSpPr>
          <p:cNvPr id="13" name="Oval 12"/>
          <p:cNvSpPr/>
          <p:nvPr/>
        </p:nvSpPr>
        <p:spPr>
          <a:xfrm>
            <a:off x="3922776" y="2258568"/>
            <a:ext cx="274320" cy="274320"/>
          </a:xfrm>
          <a:prstGeom prst="ellipse">
            <a:avLst/>
          </a:prstGeom>
          <a:solidFill>
            <a:srgbClr val="FF6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75504" y="2487168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4000"/>
              </a:lnSpc>
            </a:pPr>
            <a:r>
              <a:rPr sz="1500" b="1" i="0">
                <a:solidFill>
                  <a:srgbClr val="FF6633"/>
                </a:solidFill>
                <a:latin typeface="Arial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30952" y="2148840"/>
            <a:ext cx="1371600" cy="914400"/>
          </a:xfrm>
          <a:prstGeom prst="roundRect">
            <a:avLst>
              <a:gd name="adj" fmla="val 100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rIns="9144" rtlCol="0" anchor="ctr"/>
          <a:lstStyle/>
          <a:p>
            <a:pPr algn="ctr"/>
            <a:r>
              <a:rPr sz="1100" b="1">
                <a:solidFill>
                  <a:srgbClr val="15171C"/>
                </a:solidFill>
                <a:latin typeface="Arial"/>
              </a:rPr>
              <a:t>Detect</a:t>
            </a:r>
          </a:p>
        </p:txBody>
      </p:sp>
      <p:sp>
        <p:nvSpPr>
          <p:cNvPr id="16" name="Oval 15"/>
          <p:cNvSpPr/>
          <p:nvPr/>
        </p:nvSpPr>
        <p:spPr>
          <a:xfrm>
            <a:off x="5440680" y="2258568"/>
            <a:ext cx="274320" cy="274320"/>
          </a:xfrm>
          <a:prstGeom prst="ellipse">
            <a:avLst/>
          </a:prstGeom>
          <a:solidFill>
            <a:srgbClr val="FF6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93408" y="2487168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4000"/>
              </a:lnSpc>
            </a:pPr>
            <a:r>
              <a:rPr sz="1500" b="1" i="0">
                <a:solidFill>
                  <a:srgbClr val="FF6633"/>
                </a:solidFill>
                <a:latin typeface="Arial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48856" y="2148840"/>
            <a:ext cx="1371600" cy="914400"/>
          </a:xfrm>
          <a:prstGeom prst="roundRect">
            <a:avLst>
              <a:gd name="adj" fmla="val 100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rIns="9144" rtlCol="0" anchor="ctr"/>
          <a:lstStyle/>
          <a:p>
            <a:pPr algn="ctr"/>
            <a:r>
              <a:rPr sz="1100" b="1">
                <a:solidFill>
                  <a:srgbClr val="15171C"/>
                </a:solidFill>
                <a:latin typeface="Arial"/>
              </a:rPr>
              <a:t>Score</a:t>
            </a:r>
          </a:p>
        </p:txBody>
      </p:sp>
      <p:sp>
        <p:nvSpPr>
          <p:cNvPr id="19" name="Oval 18"/>
          <p:cNvSpPr/>
          <p:nvPr/>
        </p:nvSpPr>
        <p:spPr>
          <a:xfrm>
            <a:off x="6958584" y="2258568"/>
            <a:ext cx="274320" cy="274320"/>
          </a:xfrm>
          <a:prstGeom prst="ellipse">
            <a:avLst/>
          </a:prstGeom>
          <a:solidFill>
            <a:srgbClr val="FF6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1312" y="2487168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4000"/>
              </a:lnSpc>
            </a:pPr>
            <a:r>
              <a:rPr sz="1500" b="1" i="0">
                <a:solidFill>
                  <a:srgbClr val="FF6633"/>
                </a:solidFill>
                <a:latin typeface="Arial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66760" y="2148840"/>
            <a:ext cx="1371600" cy="914400"/>
          </a:xfrm>
          <a:prstGeom prst="roundRect">
            <a:avLst>
              <a:gd name="adj" fmla="val 100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rIns="9144" rtlCol="0" anchor="ctr"/>
          <a:lstStyle/>
          <a:p>
            <a:pPr algn="ctr"/>
            <a:r>
              <a:rPr sz="1100" b="1">
                <a:solidFill>
                  <a:srgbClr val="15171C"/>
                </a:solidFill>
                <a:latin typeface="Arial"/>
              </a:rPr>
              <a:t>Draft
redline</a:t>
            </a:r>
          </a:p>
        </p:txBody>
      </p:sp>
      <p:sp>
        <p:nvSpPr>
          <p:cNvPr id="22" name="Oval 21"/>
          <p:cNvSpPr/>
          <p:nvPr/>
        </p:nvSpPr>
        <p:spPr>
          <a:xfrm>
            <a:off x="8476488" y="2258568"/>
            <a:ext cx="274320" cy="274320"/>
          </a:xfrm>
          <a:prstGeom prst="ellipse">
            <a:avLst/>
          </a:prstGeom>
          <a:solidFill>
            <a:srgbClr val="FF6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29216" y="2487168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4000"/>
              </a:lnSpc>
            </a:pPr>
            <a:r>
              <a:rPr sz="1500" b="1" i="0">
                <a:solidFill>
                  <a:srgbClr val="FF6633"/>
                </a:solidFill>
                <a:latin typeface="Arial"/>
              </a:rPr>
              <a:t>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884664" y="2148840"/>
            <a:ext cx="1371600" cy="914400"/>
          </a:xfrm>
          <a:prstGeom prst="roundRect">
            <a:avLst>
              <a:gd name="adj" fmla="val 100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rIns="9144" rtlCol="0" anchor="ctr"/>
          <a:lstStyle/>
          <a:p>
            <a:pPr algn="ctr"/>
            <a:r>
              <a:rPr sz="1100" b="1">
                <a:solidFill>
                  <a:srgbClr val="15171C"/>
                </a:solidFill>
                <a:latin typeface="Arial"/>
              </a:rPr>
              <a:t>Route</a:t>
            </a:r>
          </a:p>
        </p:txBody>
      </p:sp>
      <p:sp>
        <p:nvSpPr>
          <p:cNvPr id="25" name="Oval 24"/>
          <p:cNvSpPr/>
          <p:nvPr/>
        </p:nvSpPr>
        <p:spPr>
          <a:xfrm>
            <a:off x="9994392" y="2258568"/>
            <a:ext cx="274320" cy="274320"/>
          </a:xfrm>
          <a:prstGeom prst="ellipse">
            <a:avLst/>
          </a:prstGeom>
          <a:solidFill>
            <a:srgbClr val="FF6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3401568"/>
            <a:ext cx="10637215" cy="457200"/>
          </a:xfrm>
          <a:prstGeom prst="roundRect">
            <a:avLst>
              <a:gd name="adj" fmla="val 16000"/>
            </a:avLst>
          </a:prstGeom>
          <a:solidFill>
            <a:srgbClr val="FC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51560" y="3474720"/>
            <a:ext cx="10180015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1" i="0">
                <a:solidFill>
                  <a:srgbClr val="E14E12"/>
                </a:solidFill>
                <a:latin typeface="Arial"/>
              </a:rPr>
              <a:t>8   LEARN     the lawyer's decision is written back to the playbook, so next time it is routine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4114800"/>
            <a:ext cx="3362858" cy="1417320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1051560" y="4297680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E7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>
                <a:solidFill>
                  <a:srgbClr val="12A150"/>
                </a:solidFill>
                <a:latin typeface="Arial"/>
              </a:rPr>
              <a:t>GREEN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4809744"/>
            <a:ext cx="285993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394150"/>
                </a:solidFill>
                <a:latin typeface="Arial"/>
              </a:rPr>
              <a:t>Auto-clear with a spot-check.
Never auto-signed.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14418" y="4114800"/>
            <a:ext cx="3362858" cy="1417320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4688738" y="4297680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FBF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>
                <a:solidFill>
                  <a:srgbClr val="C07C00"/>
                </a:solidFill>
                <a:latin typeface="Arial"/>
              </a:rPr>
              <a:t>AMBER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88738" y="4809744"/>
            <a:ext cx="285993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394150"/>
                </a:solidFill>
                <a:latin typeface="Arial"/>
              </a:rPr>
              <a:t>Known deviation. The redline is
already drafted. Lawyer confirms.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51596" y="4114800"/>
            <a:ext cx="3362858" cy="1417320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8325916" y="4297680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>
                <a:solidFill>
                  <a:srgbClr val="DE3226"/>
                </a:solidFill>
                <a:latin typeface="Arial"/>
              </a:rPr>
              <a:t>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5916" y="4809744"/>
            <a:ext cx="285993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394150"/>
                </a:solidFill>
                <a:latin typeface="Arial"/>
              </a:rPr>
              <a:t>Novel or high risk. Escalate
with terms and issues pre-extracted.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6437376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9AA0AA"/>
                </a:solidFill>
                <a:latin typeface="Arial"/>
              </a:rPr>
              <a:t>FirstPass  ·  AI Pioneer  ·  Abdelrhman Rayis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77295" y="6437376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4000"/>
              </a:lnSpc>
            </a:pPr>
            <a:r>
              <a:rPr sz="950" b="0" i="0">
                <a:solidFill>
                  <a:srgbClr val="9AA0AA"/>
                </a:solidFill>
                <a:latin typeface="Arial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1" i="0">
                <a:solidFill>
                  <a:srgbClr val="E14E12"/>
                </a:solidFill>
                <a:latin typeface="Arial"/>
              </a:rPr>
              <a:t>WHY AN AGENTIC LOOP, NOT N8N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41248"/>
            <a:ext cx="10637215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100" b="1" i="0">
                <a:solidFill>
                  <a:srgbClr val="15171C"/>
                </a:solidFill>
                <a:latin typeface="Arial"/>
              </a:rPr>
              <a:t>Deterministic automation is the wrong tool for a judgement task.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106372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394150"/>
                </a:solidFill>
                <a:latin typeface="Arial"/>
              </a:rPr>
              <a:t>n8n, Zapier and RPA are excellent when the logic can be fully specified up front. Contract wording never can: it is unstructured, endlessly paraphrased, and full of clauses no fixed rule has seen. That is a reasoning problem, not a plumbing one.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514600"/>
            <a:ext cx="10637215" cy="2788920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" y="267004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1" i="0">
                <a:solidFill>
                  <a:srgbClr val="9AA0AA"/>
                </a:solidFill>
                <a:latin typeface="Arial"/>
              </a:rPr>
              <a:t>WHAT THE JOB NEEDS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59" y="2651760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4000"/>
              </a:lnSpc>
            </a:pPr>
            <a:r>
              <a:rPr sz="1100" b="1" i="0">
                <a:solidFill>
                  <a:srgbClr val="9AA0AA"/>
                </a:solidFill>
                <a:latin typeface="Arial"/>
              </a:rPr>
              <a:t>n8n / RPA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651760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4000"/>
              </a:lnSpc>
            </a:pPr>
            <a:r>
              <a:rPr sz="1100" b="1" i="0">
                <a:solidFill>
                  <a:srgbClr val="9AA0AA"/>
                </a:solidFill>
                <a:latin typeface="Arial"/>
              </a:rPr>
              <a:t>Rules only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72600" y="2651760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4000"/>
              </a:lnSpc>
            </a:pPr>
            <a:r>
              <a:rPr sz="1100" b="1" i="0">
                <a:solidFill>
                  <a:srgbClr val="9AA0AA"/>
                </a:solidFill>
                <a:latin typeface="Arial"/>
              </a:rPr>
              <a:t>Agentic loop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035808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0" i="0">
                <a:solidFill>
                  <a:srgbClr val="15171C"/>
                </a:solidFill>
                <a:latin typeface="Arial"/>
              </a:rPr>
              <a:t>Move data and call APIs (the plumbing)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59" y="3017520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4000"/>
              </a:lnSpc>
            </a:pPr>
            <a:r>
              <a:rPr sz="1700" b="1" i="0">
                <a:solidFill>
                  <a:srgbClr val="12A150"/>
                </a:solidFill>
                <a:latin typeface="Arial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26679" y="3017520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4000"/>
              </a:lnSpc>
            </a:pPr>
            <a:r>
              <a:rPr sz="1700" b="1" i="0">
                <a:solidFill>
                  <a:srgbClr val="C07C00"/>
                </a:solidFill>
                <a:latin typeface="Arial"/>
              </a:rPr>
              <a:t>~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72600" y="3017520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4000"/>
              </a:lnSpc>
            </a:pPr>
            <a:r>
              <a:rPr sz="1700" b="1" i="0">
                <a:solidFill>
                  <a:srgbClr val="C07C00"/>
                </a:solidFill>
                <a:latin typeface="Arial"/>
              </a:rPr>
              <a:t>~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401568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0" i="0">
                <a:solidFill>
                  <a:srgbClr val="15171C"/>
                </a:solidFill>
                <a:latin typeface="Arial"/>
              </a:rPr>
              <a:t>Understand unstructured contract language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59" y="3383279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4000"/>
              </a:lnSpc>
            </a:pPr>
            <a:r>
              <a:rPr sz="1700" b="1" i="0">
                <a:solidFill>
                  <a:srgbClr val="9AA0AA"/>
                </a:solidFill>
                <a:latin typeface="Arial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26679" y="3383279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4000"/>
              </a:lnSpc>
            </a:pPr>
            <a:r>
              <a:rPr sz="1700" b="1" i="0">
                <a:solidFill>
                  <a:srgbClr val="C07C00"/>
                </a:solidFill>
                <a:latin typeface="Arial"/>
              </a:rPr>
              <a:t>~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72600" y="3383279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4000"/>
              </a:lnSpc>
            </a:pPr>
            <a:r>
              <a:rPr sz="1700" b="1" i="0">
                <a:solidFill>
                  <a:srgbClr val="12A150"/>
                </a:solidFill>
                <a:latin typeface="Arial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3767328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0" i="0">
                <a:solidFill>
                  <a:srgbClr val="15171C"/>
                </a:solidFill>
                <a:latin typeface="Arial"/>
              </a:rPr>
              <a:t>Handle paraphrased or novel clauses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59" y="3749040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4000"/>
              </a:lnSpc>
            </a:pPr>
            <a:r>
              <a:rPr sz="1700" b="1" i="0">
                <a:solidFill>
                  <a:srgbClr val="9AA0AA"/>
                </a:solidFill>
                <a:latin typeface="Arial"/>
              </a:rPr>
              <a:t>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26679" y="3749040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4000"/>
              </a:lnSpc>
            </a:pPr>
            <a:r>
              <a:rPr sz="1700" b="1" i="0">
                <a:solidFill>
                  <a:srgbClr val="9AA0AA"/>
                </a:solidFill>
                <a:latin typeface="Arial"/>
              </a:rPr>
              <a:t>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2600" y="3749040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4000"/>
              </a:lnSpc>
            </a:pPr>
            <a:r>
              <a:rPr sz="1700" b="1" i="0">
                <a:solidFill>
                  <a:srgbClr val="12A150"/>
                </a:solidFill>
                <a:latin typeface="Arial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133088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0" i="0">
                <a:solidFill>
                  <a:srgbClr val="15171C"/>
                </a:solidFill>
                <a:latin typeface="Arial"/>
              </a:rPr>
              <a:t>Apply a risk policy and judgement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0759" y="4114800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4000"/>
              </a:lnSpc>
            </a:pPr>
            <a:r>
              <a:rPr sz="1700" b="1" i="0">
                <a:solidFill>
                  <a:srgbClr val="9AA0AA"/>
                </a:solidFill>
                <a:latin typeface="Arial"/>
              </a:rPr>
              <a:t>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26679" y="4114800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4000"/>
              </a:lnSpc>
            </a:pPr>
            <a:r>
              <a:rPr sz="1700" b="1" i="0">
                <a:solidFill>
                  <a:srgbClr val="C07C00"/>
                </a:solidFill>
                <a:latin typeface="Arial"/>
              </a:rPr>
              <a:t>~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600" y="4114800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4000"/>
              </a:lnSpc>
            </a:pPr>
            <a:r>
              <a:rPr sz="1700" b="1" i="0">
                <a:solidFill>
                  <a:srgbClr val="12A150"/>
                </a:solidFill>
                <a:latin typeface="Arial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4498848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0" i="0">
                <a:solidFill>
                  <a:srgbClr val="15171C"/>
                </a:solidFill>
                <a:latin typeface="Arial"/>
              </a:rPr>
              <a:t>Improve from feedback over time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0759" y="4480560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4000"/>
              </a:lnSpc>
            </a:pPr>
            <a:r>
              <a:rPr sz="1700" b="1" i="0">
                <a:solidFill>
                  <a:srgbClr val="9AA0AA"/>
                </a:solidFill>
                <a:latin typeface="Arial"/>
              </a:rPr>
              <a:t>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6679" y="4480560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4000"/>
              </a:lnSpc>
            </a:pPr>
            <a:r>
              <a:rPr sz="1700" b="1" i="0">
                <a:solidFill>
                  <a:srgbClr val="9AA0AA"/>
                </a:solidFill>
                <a:latin typeface="Arial"/>
              </a:rPr>
              <a:t>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72600" y="4480560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4000"/>
              </a:lnSpc>
            </a:pPr>
            <a:r>
              <a:rPr sz="1700" b="1" i="0">
                <a:solidFill>
                  <a:srgbClr val="12A150"/>
                </a:solidFill>
                <a:latin typeface="Arial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" y="4864608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0" i="0">
                <a:solidFill>
                  <a:srgbClr val="15171C"/>
                </a:solidFill>
                <a:latin typeface="Arial"/>
              </a:rPr>
              <a:t>Explainable, with a human in the loop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0759" y="4846320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4000"/>
              </a:lnSpc>
            </a:pPr>
            <a:r>
              <a:rPr sz="1700" b="1" i="0">
                <a:solidFill>
                  <a:srgbClr val="C07C00"/>
                </a:solidFill>
                <a:latin typeface="Arial"/>
              </a:rPr>
              <a:t>~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26679" y="4846320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4000"/>
              </a:lnSpc>
            </a:pPr>
            <a:r>
              <a:rPr sz="1700" b="1" i="0">
                <a:solidFill>
                  <a:srgbClr val="12A150"/>
                </a:solidFill>
                <a:latin typeface="Arial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72600" y="4846320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4000"/>
              </a:lnSpc>
            </a:pPr>
            <a:r>
              <a:rPr sz="1700" b="1" i="0">
                <a:solidFill>
                  <a:srgbClr val="12A150"/>
                </a:solidFill>
                <a:latin typeface="Arial"/>
              </a:rPr>
              <a:t>✓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7240" y="5440680"/>
            <a:ext cx="10637215" cy="658368"/>
          </a:xfrm>
          <a:prstGeom prst="roundRect">
            <a:avLst>
              <a:gd name="adj" fmla="val 12000"/>
            </a:avLst>
          </a:prstGeom>
          <a:solidFill>
            <a:srgbClr val="FC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97280" y="5541264"/>
            <a:ext cx="999713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1" i="0">
                <a:solidFill>
                  <a:srgbClr val="E14E12"/>
                </a:solidFill>
                <a:latin typeface="Arial"/>
              </a:rPr>
              <a:t>Not either / or: n8n moves the contracts, the agentic loop reviews them. Deterministic automation for the pipes, an agentic loop for the judgement, a human on the risky 20%.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6437376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9AA0AA"/>
                </a:solidFill>
                <a:latin typeface="Arial"/>
              </a:rPr>
              <a:t>FirstPass  ·  AI Pioneer  ·  Abdelrhman Rayis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77295" y="6437376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4000"/>
              </a:lnSpc>
            </a:pPr>
            <a:r>
              <a:rPr sz="950" b="0" i="0">
                <a:solidFill>
                  <a:srgbClr val="9AA0AA"/>
                </a:solidFill>
                <a:latin typeface="Arial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1" i="0">
                <a:solidFill>
                  <a:srgbClr val="E14E12"/>
                </a:solidFill>
                <a:latin typeface="Arial"/>
              </a:rPr>
              <a:t>IT RUNS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41248"/>
            <a:ext cx="10637215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100" b="1" i="0">
                <a:solidFill>
                  <a:srgbClr val="15171C"/>
                </a:solidFill>
                <a:latin typeface="Arial"/>
              </a:rPr>
              <a:t>A working console, not a mockup.</a:t>
            </a:r>
          </a:p>
        </p:txBody>
      </p:sp>
      <p:pic>
        <p:nvPicPr>
          <p:cNvPr id="6" name="Picture 5" descr="shot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6350216" cy="4389120"/>
          </a:xfrm>
          <a:prstGeom prst="rect">
            <a:avLst/>
          </a:prstGeom>
          <a:ln w="15875">
            <a:solidFill>
              <a:srgbClr val="E1E5EA"/>
            </a:solidFill>
          </a:ln>
          <a:effectLst/>
        </p:spPr>
      </p:pic>
      <p:sp>
        <p:nvSpPr>
          <p:cNvPr id="7" name="TextBox 6"/>
          <p:cNvSpPr txBox="1"/>
          <p:nvPr/>
        </p:nvSpPr>
        <p:spPr>
          <a:xfrm>
            <a:off x="7269479" y="1965960"/>
            <a:ext cx="4144975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400" b="1">
                <a:solidFill>
                  <a:srgbClr val="15171C"/>
                </a:solidFill>
                <a:latin typeface="Arial"/>
              </a:rPr>
              <a:t>The queue a lawyer opens each morning.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5A6472"/>
                </a:solidFill>
                <a:latin typeface="Arial"/>
              </a:rPr>
              <a:t>Sorted by risk. The safe 80% is already cleared, the redlines are drafted, and only the real risk is waiting for a human.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9479" y="3794760"/>
            <a:ext cx="4144975" cy="1280160"/>
          </a:xfrm>
          <a:prstGeom prst="roundRect">
            <a:avLst>
              <a:gd name="adj" fmla="val 4500"/>
            </a:avLst>
          </a:prstGeom>
          <a:solidFill>
            <a:srgbClr val="E7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525511" y="3968496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1" i="0">
                <a:solidFill>
                  <a:srgbClr val="12A150"/>
                </a:solidFill>
                <a:latin typeface="Arial"/>
              </a:rPr>
              <a:t>🔒  Runs on your server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25511" y="4297680"/>
            <a:ext cx="364205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394150"/>
                </a:solidFill>
                <a:latin typeface="Arial"/>
              </a:rPr>
              <a:t>In-browser, local, offline. No contract text ever leaves the building.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6437376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9AA0AA"/>
                </a:solidFill>
                <a:latin typeface="Arial"/>
              </a:rPr>
              <a:t>FirstPass  ·  AI Pioneer  ·  Abdelrhman Rayis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77295" y="6437376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4000"/>
              </a:lnSpc>
            </a:pPr>
            <a:r>
              <a:rPr sz="950" b="0" i="0">
                <a:solidFill>
                  <a:srgbClr val="9AA0AA"/>
                </a:solidFill>
                <a:latin typeface="Arial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1" i="0">
                <a:solidFill>
                  <a:srgbClr val="E14E12"/>
                </a:solidFill>
                <a:latin typeface="Arial"/>
              </a:rPr>
              <a:t>INSIDE A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41248"/>
            <a:ext cx="10637215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100" b="1" i="0">
                <a:solidFill>
                  <a:srgbClr val="15171C"/>
                </a:solidFill>
                <a:latin typeface="Arial"/>
              </a:rPr>
              <a:t>Every issue arrives with the redline already drafted.</a:t>
            </a:r>
          </a:p>
        </p:txBody>
      </p:sp>
      <p:pic>
        <p:nvPicPr>
          <p:cNvPr id="6" name="Picture 5" descr="shot_detail_amb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5216729" cy="4526280"/>
          </a:xfrm>
          <a:prstGeom prst="rect">
            <a:avLst/>
          </a:prstGeom>
          <a:ln w="15875">
            <a:solidFill>
              <a:srgbClr val="E1E5EA"/>
            </a:solidFill>
          </a:ln>
          <a:effectLst/>
        </p:spPr>
      </p:pic>
      <p:sp>
        <p:nvSpPr>
          <p:cNvPr id="7" name="TextBox 6"/>
          <p:cNvSpPr txBox="1"/>
          <p:nvPr/>
        </p:nvSpPr>
        <p:spPr>
          <a:xfrm>
            <a:off x="6766559" y="1965960"/>
            <a:ext cx="4647895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350" b="1">
                <a:solidFill>
                  <a:srgbClr val="15171C"/>
                </a:solidFill>
                <a:latin typeface="Arial"/>
              </a:rPr>
              <a:t>The lawyer confirms, they do not start from scratch.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350" b="0">
                <a:solidFill>
                  <a:srgbClr val="5A6472"/>
                </a:solidFill>
                <a:latin typeface="Arial"/>
              </a:rPr>
              <a:t>Key terms extracted. Each deviation shows the evidence, the plain-English reason, and the exact redline the team has used before.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350" b="1">
                <a:solidFill>
                  <a:srgbClr val="15171C"/>
                </a:solidFill>
                <a:latin typeface="Arial"/>
              </a:rPr>
              <a:t>Accept, edit or reject. One click.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59" y="5257800"/>
            <a:ext cx="464789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1" i="1">
                <a:solidFill>
                  <a:srgbClr val="E14E12"/>
                </a:solidFill>
                <a:latin typeface="Arial"/>
              </a:rPr>
              <a:t>This is the artefact someone uses on Monday morning.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6437376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9AA0AA"/>
                </a:solidFill>
                <a:latin typeface="Arial"/>
              </a:rPr>
              <a:t>FirstPass  ·  AI Pioneer  ·  Abdelrhman Rayis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77295" y="6437376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4000"/>
              </a:lnSpc>
            </a:pPr>
            <a:r>
              <a:rPr sz="950" b="0" i="0">
                <a:solidFill>
                  <a:srgbClr val="9AA0AA"/>
                </a:solidFill>
                <a:latin typeface="Arial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1" i="0">
                <a:solidFill>
                  <a:srgbClr val="E14E12"/>
                </a:solidFill>
                <a:latin typeface="Arial"/>
              </a:rPr>
              <a:t>DOES IT HELP?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41248"/>
            <a:ext cx="10637215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100" b="1" i="0">
                <a:solidFill>
                  <a:srgbClr val="15171C"/>
                </a:solidFill>
                <a:latin typeface="Arial"/>
              </a:rPr>
              <a:t>Measured properly, on a labelled set, reproducibly.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74519"/>
            <a:ext cx="2480995" cy="1554480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33271" y="2066543"/>
            <a:ext cx="211523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100" b="1" i="0">
                <a:solidFill>
                  <a:srgbClr val="12A150"/>
                </a:solidFill>
                <a:latin typeface="Arial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2724912"/>
            <a:ext cx="20695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5A6472"/>
                </a:solidFill>
                <a:latin typeface="Arial"/>
              </a:rPr>
              <a:t>unsafe misses: nothing risky was auto-cleared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95979" y="1874519"/>
            <a:ext cx="2480995" cy="1554480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752011" y="2066543"/>
            <a:ext cx="211523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100" b="1" i="0">
                <a:solidFill>
                  <a:srgbClr val="15171C"/>
                </a:solidFill>
                <a:latin typeface="Arial"/>
              </a:rPr>
              <a:t>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52011" y="2724912"/>
            <a:ext cx="20695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5A6472"/>
                </a:solidFill>
                <a:latin typeface="Arial"/>
              </a:rPr>
              <a:t>triage verdict accuracy (10 of 10)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4719" y="1874519"/>
            <a:ext cx="2480995" cy="1554480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70751" y="2066543"/>
            <a:ext cx="211523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100" b="1" i="0">
                <a:solidFill>
                  <a:srgbClr val="C07C00"/>
                </a:solidFill>
                <a:latin typeface="Arial"/>
              </a:rPr>
              <a:t>93 / 93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0751" y="2724912"/>
            <a:ext cx="20695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5A6472"/>
                </a:solidFill>
                <a:latin typeface="Arial"/>
              </a:rPr>
              <a:t>material-issue precision / recall, no LLM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3459" y="1874519"/>
            <a:ext cx="2480995" cy="1554480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89491" y="2066543"/>
            <a:ext cx="211523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100" b="1" i="0">
                <a:solidFill>
                  <a:srgbClr val="E14E12"/>
                </a:solidFill>
                <a:latin typeface="Arial"/>
              </a:rPr>
              <a:t>58%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491" y="2724912"/>
            <a:ext cx="20695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5A6472"/>
                </a:solidFill>
                <a:latin typeface="Arial"/>
              </a:rPr>
              <a:t>of human review minutes removed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657600"/>
            <a:ext cx="5623560" cy="1874519"/>
          </a:xfrm>
          <a:prstGeom prst="roundRect">
            <a:avLst>
              <a:gd name="adj" fmla="val 4500"/>
            </a:avLst>
          </a:prstGeom>
          <a:solidFill>
            <a:srgbClr val="FC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69848" y="3840480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150" b="1" i="0">
                <a:solidFill>
                  <a:srgbClr val="E14E12"/>
                </a:solidFill>
                <a:latin typeface="Arial"/>
              </a:rPr>
              <a:t>EXTRAPOLATED TO 200 CONTRACTS /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" y="4133087"/>
            <a:ext cx="45720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4000" b="1" i="0">
                <a:solidFill>
                  <a:srgbClr val="15171C"/>
                </a:solidFill>
                <a:latin typeface="Arial"/>
              </a:rPr>
              <a:t>~73 hours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4919472"/>
            <a:ext cx="51206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394150"/>
                </a:solidFill>
                <a:latin typeface="Arial"/>
              </a:rPr>
              <a:t>of legal time returned every month, about two weeks of a reviewer, pointed back at real risk.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29400" y="3657600"/>
            <a:ext cx="4785055" cy="1874519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903720" y="384048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150" b="1" i="0">
                <a:solidFill>
                  <a:srgbClr val="9AA0AA"/>
                </a:solidFill>
                <a:latin typeface="Arial"/>
              </a:rPr>
              <a:t>EXTERNAL BENCHMARK  ·  LAWGEEX 2018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206240"/>
            <a:ext cx="423641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1">
                <a:solidFill>
                  <a:srgbClr val="12A150"/>
                </a:solidFill>
                <a:latin typeface="Arial"/>
              </a:rPr>
              <a:t>94% vs 85%   AI beat 20 lawyers at NDA issue-spotting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1">
                <a:solidFill>
                  <a:srgbClr val="12A150"/>
                </a:solidFill>
                <a:latin typeface="Arial"/>
              </a:rPr>
              <a:t>26 sec vs 92 min   average review time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0">
                <a:solidFill>
                  <a:srgbClr val="5A6472"/>
                </a:solidFill>
                <a:latin typeface="Arial"/>
              </a:rPr>
              <a:t>The category is proven. This applies it to your queue, privately.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6437376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9AA0AA"/>
                </a:solidFill>
                <a:latin typeface="Arial"/>
              </a:rPr>
              <a:t>FirstPass  ·  AI Pioneer  ·  Abdelrhman Rayis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77295" y="6437376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4000"/>
              </a:lnSpc>
            </a:pPr>
            <a:r>
              <a:rPr sz="950" b="0" i="0">
                <a:solidFill>
                  <a:srgbClr val="9AA0AA"/>
                </a:solidFill>
                <a:latin typeface="Arial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07040" cy="298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 i="0">
                <a:solidFill>
                  <a:srgbClr val="E14E12"/>
                </a:solidFill>
                <a:highlight>
                  <a:srgbClr val="FFFF00"/>
                </a:highlight>
                <a:latin typeface="Arial"/>
              </a:rPr>
              <a:t>IT GETS SMARTER</a:t>
            </a:r>
            <a:r>
              <a:rPr lang="en-US" sz="2000" b="1" i="0">
                <a:solidFill>
                  <a:srgbClr val="E14E12"/>
                </a:solidFill>
                <a:highlight>
                  <a:srgbClr val="FFFF00"/>
                </a:highlight>
                <a:latin typeface="Arial"/>
              </a:rPr>
              <a:t>!</a:t>
            </a:r>
            <a:endParaRPr sz="2000" b="1" i="0">
              <a:solidFill>
                <a:srgbClr val="E14E12"/>
              </a:solidFill>
              <a:highlight>
                <a:srgbClr val="FFFF00"/>
              </a:highlight>
              <a:latin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77240" y="841248"/>
            <a:ext cx="10637215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100" b="1" i="0">
                <a:solidFill>
                  <a:srgbClr val="15171C"/>
                </a:solidFill>
                <a:latin typeface="Arial"/>
              </a:rPr>
              <a:t>A knowledge base and a skill set that grow with every case.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2331720" cy="1051560"/>
          </a:xfrm>
          <a:prstGeom prst="roundRect">
            <a:avLst>
              <a:gd name="adj" fmla="val 10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rIns="9144" rtlCol="0" anchor="ctr"/>
          <a:lstStyle/>
          <a:p>
            <a:pPr algn="ctr"/>
            <a:r>
              <a:rPr sz="1250" b="1">
                <a:solidFill>
                  <a:srgbClr val="15171C"/>
                </a:solidFill>
                <a:latin typeface="Arial"/>
              </a:rPr>
              <a:t>A lawyer resolves
a novel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63824" y="245059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4000"/>
              </a:lnSpc>
            </a:pPr>
            <a:r>
              <a:rPr sz="1900" b="1" i="0">
                <a:solidFill>
                  <a:srgbClr val="FF6633"/>
                </a:solidFill>
                <a:latin typeface="Arial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93008" y="2057400"/>
            <a:ext cx="2331720" cy="1051560"/>
          </a:xfrm>
          <a:prstGeom prst="roundRect">
            <a:avLst>
              <a:gd name="adj" fmla="val 10000"/>
            </a:avLst>
          </a:prstGeom>
          <a:solidFill>
            <a:srgbClr val="FC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rIns="9144" rtlCol="0" anchor="ctr"/>
          <a:lstStyle/>
          <a:p>
            <a:pPr algn="ctr"/>
            <a:r>
              <a:rPr sz="1250" b="1">
                <a:solidFill>
                  <a:srgbClr val="15171C"/>
                </a:solidFill>
                <a:latin typeface="Arial"/>
              </a:rPr>
              <a:t>It becomes a rule
in the knowledge base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79591" y="245059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4000"/>
              </a:lnSpc>
            </a:pPr>
            <a:r>
              <a:rPr sz="1900" b="1" i="0">
                <a:solidFill>
                  <a:srgbClr val="FF6633"/>
                </a:solidFill>
                <a:latin typeface="Arial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8775" y="2057400"/>
            <a:ext cx="2331720" cy="1051560"/>
          </a:xfrm>
          <a:prstGeom prst="roundRect">
            <a:avLst>
              <a:gd name="adj" fmla="val 10000"/>
            </a:avLst>
          </a:prstGeom>
          <a:solidFill>
            <a:srgbClr val="FBF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rIns="9144" rtlCol="0" anchor="ctr"/>
          <a:lstStyle/>
          <a:p>
            <a:pPr algn="ctr"/>
            <a:r>
              <a:rPr sz="1250" b="1">
                <a:solidFill>
                  <a:srgbClr val="15171C"/>
                </a:solidFill>
                <a:latin typeface="Arial"/>
              </a:rPr>
              <a:t>That case is now
routine, redline ready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245059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4000"/>
              </a:lnSpc>
            </a:pPr>
            <a:r>
              <a:rPr sz="1900" b="1" i="0">
                <a:solidFill>
                  <a:srgbClr val="FF6633"/>
                </a:solidFill>
                <a:latin typeface="Arial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24543" y="2057400"/>
            <a:ext cx="2331720" cy="1051560"/>
          </a:xfrm>
          <a:prstGeom prst="roundRect">
            <a:avLst>
              <a:gd name="adj" fmla="val 10000"/>
            </a:avLst>
          </a:prstGeom>
          <a:solidFill>
            <a:srgbClr val="E7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rIns="9144" rtlCol="0" anchor="ctr"/>
          <a:lstStyle/>
          <a:p>
            <a:pPr algn="ctr"/>
            <a:r>
              <a:rPr sz="1250" b="1">
                <a:solidFill>
                  <a:srgbClr val="15171C"/>
                </a:solidFill>
                <a:latin typeface="Arial"/>
              </a:rPr>
              <a:t>Next month's queue
is shorter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520440"/>
            <a:ext cx="5257800" cy="2011680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69848" y="370332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150" b="1" i="0">
                <a:solidFill>
                  <a:srgbClr val="E14E12"/>
                </a:solidFill>
                <a:latin typeface="Arial"/>
              </a:rPr>
              <a:t>KNOWLEDGE 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4023360"/>
            <a:ext cx="470916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94150"/>
                </a:solidFill>
                <a:latin typeface="Arial"/>
              </a:rPr>
              <a:t>The playbook is plain English. Every decision a lawyer makes is captured as a rule with the redline they used. It fills with PortSwigger's own positions, so the system knows more each week.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59" y="3520440"/>
            <a:ext cx="5105095" cy="2011680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601968" y="370332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150" b="1" i="0">
                <a:solidFill>
                  <a:srgbClr val="E14E12"/>
                </a:solidFill>
                <a:latin typeface="Arial"/>
              </a:rPr>
              <a:t>SKILLS THAT COMPOUND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1968" y="4023360"/>
            <a:ext cx="4556455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94150"/>
                </a:solidFill>
                <a:latin typeface="Arial"/>
              </a:rPr>
              <a:t>A new contract type or clause is not new code, it is a new skill added to the playbook. The agent's abilities grow without an engineer, and none of it is lost when I leave.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715000"/>
            <a:ext cx="106372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0" i="1">
                <a:solidFill>
                  <a:srgbClr val="394150"/>
                </a:solidFill>
                <a:latin typeface="Arial"/>
              </a:rPr>
              <a:t>Demonstrated: python evals/demo_learning.py closes the one gap the eval found, recall 93% to 100%, one playbook edit, no code.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6437376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9AA0AA"/>
                </a:solidFill>
                <a:latin typeface="Arial"/>
              </a:rPr>
              <a:t>FirstPass  ·  AI Pioneer  ·  Abdelrhman Rayis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77295" y="6437376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4000"/>
              </a:lnSpc>
            </a:pPr>
            <a:r>
              <a:rPr sz="950" b="0" i="0">
                <a:solidFill>
                  <a:srgbClr val="9AA0AA"/>
                </a:solidFill>
                <a:latin typeface="Arial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07040" cy="298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 i="0">
                <a:solidFill>
                  <a:srgbClr val="E14E12"/>
                </a:solidFill>
                <a:highlight>
                  <a:srgbClr val="FFFF00"/>
                </a:highlight>
                <a:latin typeface="Arial"/>
              </a:rPr>
              <a:t>PRIVATE BY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41248"/>
            <a:ext cx="10637215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100" b="1" i="0">
                <a:solidFill>
                  <a:srgbClr val="15171C"/>
                </a:solidFill>
                <a:latin typeface="Arial"/>
              </a:rPr>
              <a:t>Local AI on your server, and built to the standards that matter.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28800"/>
            <a:ext cx="5074920" cy="2148840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69848" y="1993392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150" b="1" i="0">
                <a:solidFill>
                  <a:srgbClr val="E14E12"/>
                </a:solidFill>
                <a:latin typeface="Arial"/>
              </a:rPr>
              <a:t>WHY LOCAL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" y="2304288"/>
            <a:ext cx="457200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394150"/>
                </a:solidFill>
                <a:latin typeface="Arial"/>
              </a:rPr>
              <a:t>Contracts are privileged and confidential, and you are a security company. So the reasoning model runs on your own server, not a third-party API. No contract text ever leaves your infrastructure: privacy is kept by construction, not by policy.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828800"/>
            <a:ext cx="5242255" cy="2148840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64807" y="1993392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150" b="1" i="0">
                <a:solidFill>
                  <a:srgbClr val="E14E12"/>
                </a:solidFill>
                <a:latin typeface="Arial"/>
              </a:rPr>
              <a:t>HOW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4807" y="2304288"/>
            <a:ext cx="4693615" cy="9530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394150"/>
                </a:solidFill>
                <a:latin typeface="Arial"/>
              </a:rPr>
              <a:t>The deterministic engine needs no model at all: that is the floor. </a:t>
            </a:r>
            <a:r>
              <a:rPr sz="1300" b="0" i="0">
                <a:solidFill>
                  <a:srgbClr val="394150"/>
                </a:solidFill>
                <a:highlight>
                  <a:srgbClr val="FFFF00"/>
                </a:highlight>
                <a:latin typeface="Arial"/>
              </a:rPr>
              <a:t>The reasoning layer is an open-weight model (Hermes, Llama 3.3, Qwen, Mistral) served locally with Ollama or vLLM. It ships as a skill on day one, then moves fully in-house.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22452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150" b="1" i="0">
                <a:solidFill>
                  <a:srgbClr val="E14E12"/>
                </a:solidFill>
                <a:latin typeface="Arial"/>
              </a:rPr>
              <a:t>BUILT TO THE STANDARDS THAT MATTER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553712"/>
            <a:ext cx="2494711" cy="12344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78408" y="4700016"/>
            <a:ext cx="2165527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15171C"/>
                </a:solidFill>
                <a:latin typeface="Arial"/>
              </a:rPr>
              <a:t>UK GDPR / DPA 2018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" y="5175504"/>
            <a:ext cx="2147239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80" b="0" i="0">
                <a:solidFill>
                  <a:srgbClr val="5A6472"/>
                </a:solidFill>
                <a:latin typeface="Arial"/>
              </a:rPr>
              <a:t>Personal data in contracts, handled lawfully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91407" y="4553712"/>
            <a:ext cx="2494711" cy="12344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692575" y="4700016"/>
            <a:ext cx="2165527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15171C"/>
                </a:solidFill>
                <a:latin typeface="Arial"/>
              </a:rPr>
              <a:t>ISO/IEC 27001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92575" y="5175504"/>
            <a:ext cx="2147239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80" b="0" i="0">
                <a:solidFill>
                  <a:srgbClr val="5A6472"/>
                </a:solidFill>
                <a:latin typeface="Arial"/>
              </a:rPr>
              <a:t>Information security, on-prem by default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05575" y="4553712"/>
            <a:ext cx="2494711" cy="12344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6743" y="4700016"/>
            <a:ext cx="2165527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15171C"/>
                </a:solidFill>
                <a:latin typeface="Arial"/>
              </a:rPr>
              <a:t>ISO/IEC 42001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6743" y="5175504"/>
            <a:ext cx="2147239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80" b="0" i="0">
                <a:solidFill>
                  <a:srgbClr val="5A6472"/>
                </a:solidFill>
                <a:latin typeface="Arial"/>
              </a:rPr>
              <a:t>AI management system, governed and audited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19743" y="4553712"/>
            <a:ext cx="2494711" cy="12344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20911" y="4700016"/>
            <a:ext cx="2165527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15171C"/>
                </a:solidFill>
                <a:latin typeface="Arial"/>
              </a:rPr>
              <a:t>EU AI Act / NIST AI RMF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20911" y="5175504"/>
            <a:ext cx="2147239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80" b="0" i="0">
                <a:solidFill>
                  <a:srgbClr val="5A6472"/>
                </a:solidFill>
                <a:latin typeface="Arial"/>
              </a:rPr>
              <a:t>Human-in-the-loop, explainable, risk-based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6437376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9AA0AA"/>
                </a:solidFill>
                <a:latin typeface="Arial"/>
              </a:rPr>
              <a:t>FirstPass  ·  AI Pioneer  ·  Abdelrhman Rayis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77295" y="6437376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4000"/>
              </a:lnSpc>
            </a:pPr>
            <a:r>
              <a:rPr sz="950" b="0" i="0">
                <a:solidFill>
                  <a:srgbClr val="9AA0AA"/>
                </a:solidFill>
                <a:latin typeface="Arial"/>
              </a:rP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1" i="0">
                <a:solidFill>
                  <a:srgbClr val="E14E12"/>
                </a:solidFill>
                <a:latin typeface="Arial"/>
              </a:rPr>
              <a:t>MY FIT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41248"/>
            <a:ext cx="10637215" cy="4626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100" b="1" i="0">
                <a:solidFill>
                  <a:srgbClr val="15171C"/>
                </a:solidFill>
                <a:latin typeface="Arial"/>
              </a:rPr>
              <a:t>Why I applied, and how I would add </a:t>
            </a:r>
            <a:r>
              <a:rPr sz="3100" b="1" i="0">
                <a:solidFill>
                  <a:srgbClr val="15171C"/>
                </a:solidFill>
                <a:highlight>
                  <a:srgbClr val="FFFF00"/>
                </a:highlight>
                <a:latin typeface="Arial"/>
              </a:rPr>
              <a:t>value</a:t>
            </a:r>
            <a:r>
              <a:rPr sz="3100" b="1" i="0">
                <a:solidFill>
                  <a:srgbClr val="15171C"/>
                </a:solidFill>
                <a:latin typeface="Arial"/>
              </a:rPr>
              <a:t>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1" i="0">
                <a:solidFill>
                  <a:srgbClr val="E14E12"/>
                </a:solidFill>
                <a:latin typeface="Arial"/>
              </a:rPr>
              <a:t>WHY I APPLIED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40280"/>
            <a:ext cx="489204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15171C"/>
                </a:solidFill>
                <a:latin typeface="Arial"/>
              </a:rPr>
              <a:t>PortSwigger is treating AI as the way it works, not a side project.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350" b="0">
                <a:solidFill>
                  <a:srgbClr val="5A6472"/>
                </a:solidFill>
                <a:latin typeface="Arial"/>
              </a:rPr>
              <a:t>I already do this: drop into a domain, build a real thing, measure it, hand it over.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350" b="0">
                <a:solidFill>
                  <a:srgbClr val="5A6472"/>
                </a:solidFill>
                <a:latin typeface="Arial"/>
              </a:rPr>
              <a:t>I want to be somewhere the ambition and the tooling are taken seriously.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874519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1" i="0">
                <a:solidFill>
                  <a:srgbClr val="E14E12"/>
                </a:solidFill>
                <a:latin typeface="Arial"/>
              </a:rPr>
              <a:t>HOW I ADD VALUE</a:t>
            </a:r>
          </a:p>
        </p:txBody>
      </p:sp>
      <p:sp>
        <p:nvSpPr>
          <p:cNvPr id="9" name="Oval 8"/>
          <p:cNvSpPr/>
          <p:nvPr/>
        </p:nvSpPr>
        <p:spPr>
          <a:xfrm>
            <a:off x="6263640" y="2267712"/>
            <a:ext cx="182880" cy="182880"/>
          </a:xfrm>
          <a:prstGeom prst="ellipse">
            <a:avLst/>
          </a:prstGeom>
          <a:solidFill>
            <a:srgbClr val="FF6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29400" y="2203704"/>
            <a:ext cx="4785055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 i="0">
                <a:solidFill>
                  <a:srgbClr val="15171C"/>
                </a:solidFill>
                <a:latin typeface="Arial"/>
              </a:rPr>
              <a:t>Ship artefacts, not slides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514600"/>
            <a:ext cx="4785055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 i="0">
                <a:solidFill>
                  <a:srgbClr val="5A6472"/>
                </a:solidFill>
                <a:latin typeface="Arial"/>
              </a:rPr>
              <a:t>A working tool someone uses on Monday.</a:t>
            </a:r>
          </a:p>
        </p:txBody>
      </p:sp>
      <p:sp>
        <p:nvSpPr>
          <p:cNvPr id="12" name="Oval 11"/>
          <p:cNvSpPr/>
          <p:nvPr/>
        </p:nvSpPr>
        <p:spPr>
          <a:xfrm>
            <a:off x="6263640" y="3017520"/>
            <a:ext cx="182880" cy="182880"/>
          </a:xfrm>
          <a:prstGeom prst="ellipse">
            <a:avLst/>
          </a:prstGeom>
          <a:solidFill>
            <a:srgbClr val="FF6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29400" y="2953512"/>
            <a:ext cx="4785055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 i="0">
                <a:solidFill>
                  <a:srgbClr val="15171C"/>
                </a:solidFill>
                <a:latin typeface="Arial"/>
              </a:rPr>
              <a:t>Bring the expert with 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3264408"/>
            <a:ext cx="4785055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 i="0">
                <a:solidFill>
                  <a:srgbClr val="5A6472"/>
                </a:solidFill>
                <a:latin typeface="Arial"/>
              </a:rPr>
              <a:t>I work alongside the domain expert, not above them.</a:t>
            </a:r>
          </a:p>
        </p:txBody>
      </p:sp>
      <p:sp>
        <p:nvSpPr>
          <p:cNvPr id="15" name="Oval 14"/>
          <p:cNvSpPr/>
          <p:nvPr/>
        </p:nvSpPr>
        <p:spPr>
          <a:xfrm>
            <a:off x="6263640" y="3767328"/>
            <a:ext cx="182880" cy="182880"/>
          </a:xfrm>
          <a:prstGeom prst="ellipse">
            <a:avLst/>
          </a:prstGeom>
          <a:solidFill>
            <a:srgbClr val="FF6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29400" y="3703320"/>
            <a:ext cx="4785055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 i="0">
                <a:solidFill>
                  <a:srgbClr val="15171C"/>
                </a:solidFill>
                <a:latin typeface="Arial"/>
              </a:rPr>
              <a:t>Measure everything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4014215"/>
            <a:ext cx="4785055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 i="0">
                <a:solidFill>
                  <a:srgbClr val="5A6472"/>
                </a:solidFill>
                <a:latin typeface="Arial"/>
              </a:rPr>
              <a:t>I care as much about the eval as the build.</a:t>
            </a:r>
          </a:p>
        </p:txBody>
      </p:sp>
      <p:sp>
        <p:nvSpPr>
          <p:cNvPr id="18" name="Oval 17"/>
          <p:cNvSpPr/>
          <p:nvPr/>
        </p:nvSpPr>
        <p:spPr>
          <a:xfrm>
            <a:off x="6263640" y="4517136"/>
            <a:ext cx="182880" cy="182880"/>
          </a:xfrm>
          <a:prstGeom prst="ellipse">
            <a:avLst/>
          </a:prstGeom>
          <a:solidFill>
            <a:srgbClr val="FF6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629400" y="4453128"/>
            <a:ext cx="4785055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 i="0">
                <a:solidFill>
                  <a:srgbClr val="15171C"/>
                </a:solidFill>
                <a:latin typeface="Arial"/>
              </a:rPr>
              <a:t>Leave capability, not dependency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4764024"/>
            <a:ext cx="4785055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 i="0">
                <a:solidFill>
                  <a:srgbClr val="5A6472"/>
                </a:solidFill>
                <a:latin typeface="Arial"/>
              </a:rPr>
              <a:t>The playbook and skills stay when I move 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777240" y="1371600"/>
            <a:ext cx="182880" cy="182880"/>
          </a:xfrm>
          <a:prstGeom prst="ellipse">
            <a:avLst/>
          </a:prstGeom>
          <a:solidFill>
            <a:srgbClr val="12A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69848" y="1371600"/>
            <a:ext cx="182880" cy="182880"/>
          </a:xfrm>
          <a:prstGeom prst="ellipse">
            <a:avLst/>
          </a:prstGeom>
          <a:solidFill>
            <a:srgbClr val="C0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362456" y="1371600"/>
            <a:ext cx="182880" cy="182880"/>
          </a:xfrm>
          <a:prstGeom prst="ellipse">
            <a:avLst/>
          </a:prstGeom>
          <a:solidFill>
            <a:srgbClr val="DE3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78308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5200" b="1" i="0">
                <a:solidFill>
                  <a:srgbClr val="15171C"/>
                </a:solidFill>
                <a:latin typeface="Arial"/>
              </a:rPr>
              <a:t>Thank you.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83464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400" b="1" i="0">
                <a:solidFill>
                  <a:srgbClr val="E14E12"/>
                </a:solidFill>
                <a:latin typeface="Arial"/>
              </a:rPr>
              <a:t>This was one corner. There are twenty-five more.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657600"/>
            <a:ext cx="996696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600" b="0">
                <a:solidFill>
                  <a:srgbClr val="15171C"/>
                </a:solidFill>
                <a:latin typeface="Arial"/>
              </a:rPr>
              <a:t>The legal queue was the brief. The method is the point: find the risk gate, insert triage, measure it, keep it private, teach it to compound, then move on.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600" b="0">
                <a:solidFill>
                  <a:srgbClr val="5A6472"/>
                </a:solidFill>
                <a:latin typeface="Arial"/>
              </a:rPr>
              <a:t>Legal today. Support, marketing, finance, recruitment next. Same loop, new domain.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25780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 i="0">
                <a:solidFill>
                  <a:srgbClr val="15171C"/>
                </a:solidFill>
                <a:latin typeface="Arial"/>
              </a:rPr>
              <a:t>Questions?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80644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 i="0">
                <a:solidFill>
                  <a:srgbClr val="5A6472"/>
                </a:solidFill>
                <a:latin typeface="Arial"/>
              </a:rPr>
              <a:t>Abdelrhman Rayis   ·   abdelrhman.rayis@gmail.com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12648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150" b="0" i="0">
                <a:solidFill>
                  <a:srgbClr val="9AA0AA"/>
                </a:solidFill>
                <a:latin typeface="Arial"/>
              </a:rPr>
              <a:t>Prototype, live console, evals and this deck are all in the submitted repo.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</TotalTime>
  <Words>2339</Words>
  <Application>Microsoft Macintosh PowerPoint</Application>
  <PresentationFormat>Widescreen</PresentationFormat>
  <Paragraphs>343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Abdelrhman Rayis</cp:lastModifiedBy>
  <cp:revision>2</cp:revision>
  <dcterms:created xsi:type="dcterms:W3CDTF">2013-01-27T09:14:16Z</dcterms:created>
  <dcterms:modified xsi:type="dcterms:W3CDTF">2026-07-08T14:22:30Z</dcterms:modified>
  <cp:category/>
</cp:coreProperties>
</file>