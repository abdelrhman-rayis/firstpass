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bdelrhman-Rayis/FirstPass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1481328"/>
            <a:ext cx="182880" cy="18288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" y="1481328"/>
            <a:ext cx="182880" cy="182880"/>
          </a:xfrm>
          <a:prstGeom prst="ellipse">
            <a:avLst/>
          </a:prstGeom>
          <a:solidFill>
            <a:srgbClr val="C0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1481328"/>
            <a:ext cx="182880" cy="182880"/>
          </a:xfrm>
          <a:prstGeom prst="ellipse">
            <a:avLst/>
          </a:prstGeom>
          <a:solidFill>
            <a:srgbClr val="DE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783080"/>
            <a:ext cx="9144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200" b="1" i="0">
                <a:solidFill>
                  <a:srgbClr val="15171C"/>
                </a:solidFill>
                <a:latin typeface="Arial"/>
              </a:rPr>
              <a:t>FirstPass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15171C"/>
                </a:solidFill>
                <a:latin typeface="Arial"/>
              </a:rPr>
              <a:t>Clearing the contract-review queue, and how I think.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67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0" i="0">
                <a:solidFill>
                  <a:srgbClr val="5A6472"/>
                </a:solidFill>
                <a:latin typeface="Arial"/>
              </a:rPr>
              <a:t>A working prototype, a live console, and measured results,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41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0" i="0">
                <a:solidFill>
                  <a:srgbClr val="5A6472"/>
                </a:solidFill>
                <a:latin typeface="Arial"/>
              </a:rPr>
              <a:t>built to run entirely on your own servers.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 i="0">
                <a:solidFill>
                  <a:srgbClr val="15171C"/>
                </a:solidFill>
                <a:latin typeface="Arial"/>
              </a:rPr>
              <a:t>Abdelrhman Rayis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5955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AI Pioneer  ·  work-sample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  <a:hlinkClick r:id="rId2"/>
              </a:rPr>
              <a:t>github.com/Abdelrhman-Rayis/FirstPass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5575" y="18288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1150" b="1" i="0">
                <a:solidFill>
                  <a:srgbClr val="9AA0AA"/>
                </a:solidFill>
                <a:latin typeface="Arial"/>
              </a:rPr>
              <a:t>RISK TRIAGE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5575" y="2212848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DE3226"/>
                </a:solidFill>
                <a:latin typeface="Arial"/>
              </a:rPr>
              <a:t>RED    escalate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5575" y="2761488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C07C00"/>
                </a:solidFill>
                <a:latin typeface="Arial"/>
              </a:rPr>
              <a:t>AMBER    confirm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5575" y="3310128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12A150"/>
                </a:solidFill>
                <a:latin typeface="Arial"/>
              </a:rPr>
              <a:t>GREEN    auto-clear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5535" y="3977639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1150" b="1" i="0">
                <a:solidFill>
                  <a:srgbClr val="12A150"/>
                </a:solidFill>
                <a:latin typeface="Arial"/>
              </a:rPr>
              <a:t>🔒  on-prem  ·  local AI  ·  no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WHAT I'LL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Five short steps, the way I'd tackle any new problem.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75104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650" b="1" i="0">
                <a:solidFill>
                  <a:srgbClr val="15171C"/>
                </a:solidFill>
                <a:latin typeface="Arial"/>
              </a:rPr>
              <a:t>How I approach a problem I have not seen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40864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First principles, five whys, systems thinking, 80/20.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852928"/>
            <a:ext cx="457200" cy="45720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650" b="1" i="0">
                <a:solidFill>
                  <a:srgbClr val="15171C"/>
                </a:solidFill>
                <a:latin typeface="Arial"/>
              </a:rPr>
              <a:t>The scenario, and its root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182112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Your contract queue, and why it really backs up.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694176"/>
            <a:ext cx="457200" cy="45720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65760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650" b="1" i="0">
                <a:solidFill>
                  <a:srgbClr val="15171C"/>
                </a:solidFill>
                <a:latin typeface="Arial"/>
              </a:rPr>
              <a:t>FirstPass: the solution, running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02336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An agentic triage layer, in a browser, on your server.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535424"/>
            <a:ext cx="457200" cy="45720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49884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650" b="1" i="0">
                <a:solidFill>
                  <a:srgbClr val="15171C"/>
                </a:solidFill>
                <a:latin typeface="Arial"/>
              </a:rPr>
              <a:t>Does it actually help?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86460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Measured properly: safety, accuracy, hours saved.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376672"/>
            <a:ext cx="457200" cy="45720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4009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650" b="1" i="0">
                <a:solidFill>
                  <a:srgbClr val="15171C"/>
                </a:solidFill>
                <a:latin typeface="Arial"/>
              </a:rPr>
              <a:t>Private by design, and how I would add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705856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Local AI, the standards that matter, and my 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Value from day one: a skill that grows into an agentic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62455" y="1993392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E14E12"/>
                </a:solidFill>
                <a:latin typeface="Arial"/>
              </a:rPr>
              <a:t>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87168"/>
            <a:ext cx="2304288" cy="1536192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3" y="2688336"/>
            <a:ext cx="384048" cy="384048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734056"/>
            <a:ext cx="1435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5171C"/>
                </a:solidFill>
                <a:latin typeface="Arial"/>
              </a:rPr>
              <a:t>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218688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472"/>
                </a:solidFill>
                <a:latin typeface="Arial"/>
              </a:rPr>
              <a:t>Deploy the contract-triage skill, after understanding the business.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307238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20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993392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E14E12"/>
                </a:solidFill>
                <a:latin typeface="Arial"/>
              </a:rPr>
              <a:t>DAY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2487168"/>
            <a:ext cx="2304288" cy="1536192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67328" y="2688336"/>
            <a:ext cx="384048" cy="384048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2734056"/>
            <a:ext cx="1435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5171C"/>
                </a:solidFill>
                <a:latin typeface="Arial"/>
              </a:rPr>
              <a:t>Agent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3218688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472"/>
                </a:solidFill>
                <a:latin typeface="Arial"/>
              </a:rPr>
              <a:t>The playbook becomes the agent's memory of standard positions.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307238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20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67143" y="1993392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E14E12"/>
                </a:solidFill>
                <a:latin typeface="Arial"/>
              </a:rPr>
              <a:t>WEEK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7" y="2487168"/>
            <a:ext cx="2304288" cy="1536192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19671" y="2688336"/>
            <a:ext cx="384048" cy="384048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7" y="2734056"/>
            <a:ext cx="1435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5171C"/>
                </a:solidFill>
                <a:latin typeface="Arial"/>
              </a:rPr>
              <a:t>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218688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472"/>
                </a:solidFill>
                <a:latin typeface="Arial"/>
              </a:rPr>
              <a:t>The console, routing and evals grow around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5" y="307238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20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19488" y="1993392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E14E12"/>
                </a:solidFill>
                <a:latin typeface="Arial"/>
              </a:rPr>
              <a:t>WEEK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4272" y="2487168"/>
            <a:ext cx="2304288" cy="1536192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72015" y="2688336"/>
            <a:ext cx="384048" cy="384048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2734056"/>
            <a:ext cx="1435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1" i="0">
                <a:solidFill>
                  <a:srgbClr val="15171C"/>
                </a:solidFill>
                <a:latin typeface="Arial"/>
              </a:rPr>
              <a:t>Agentic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3" y="3218688"/>
            <a:ext cx="1828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5A6472"/>
                </a:solidFill>
                <a:latin typeface="Arial"/>
              </a:rPr>
              <a:t>The full loop, with the learning flywheel.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224528"/>
            <a:ext cx="10637215" cy="502920"/>
          </a:xfrm>
          <a:prstGeom prst="roundRect">
            <a:avLst>
              <a:gd name="adj" fmla="val 14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334256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↺   Feedback loop: gather feedback and improve every two weeks. The queue gets shorter each cycle.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956048"/>
            <a:ext cx="10637215" cy="96012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" y="51023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9AA0AA"/>
                </a:solidFill>
                <a:latin typeface="Arial"/>
              </a:rPr>
              <a:t>WHERE IT RUNS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8136" y="5413248"/>
            <a:ext cx="3520440" cy="402336"/>
          </a:xfrm>
          <a:prstGeom prst="roundRect">
            <a:avLst>
              <a:gd name="adj" fmla="val 50000"/>
            </a:avLst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5A6472"/>
                </a:solidFill>
                <a:latin typeface="Arial"/>
              </a:rPr>
              <a:t>Cloud, fast: synthetic test data, no GDPR issue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0872" y="55229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6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01768" y="5413248"/>
            <a:ext cx="3794760" cy="402336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12A150"/>
                </a:solidFill>
                <a:latin typeface="Arial"/>
              </a:rPr>
              <a:t>🔒  Local Hermes, on your server: real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5468112"/>
            <a:ext cx="2407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1">
                <a:solidFill>
                  <a:srgbClr val="394150"/>
                </a:solidFill>
                <a:latin typeface="Arial"/>
              </a:rPr>
              <a:t>When real client data is involved, reasoning moves in-house. Value fast, privacy kept.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HOW I THINK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I don't jump to a solution. I find the root of the problem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5A6472"/>
                </a:solidFill>
                <a:latin typeface="Arial"/>
              </a:rPr>
              <a:t>Four mental models I reach for before writing a line of code: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2453563" cy="260604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" y="2670048"/>
            <a:ext cx="237744" cy="237744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27248"/>
            <a:ext cx="19963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 i="0">
                <a:solidFill>
                  <a:srgbClr val="15171C"/>
                </a:solidFill>
                <a:latin typeface="Arial"/>
              </a:rPr>
              <a:t>First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29584"/>
            <a:ext cx="19597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Strip the task to its atoms. What is really being decided here?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5123" y="2377440"/>
            <a:ext cx="2453563" cy="260604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97731" y="2670048"/>
            <a:ext cx="237744" cy="237744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9443" y="3127248"/>
            <a:ext cx="19963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 i="0">
                <a:solidFill>
                  <a:srgbClr val="15171C"/>
                </a:solidFill>
                <a:latin typeface="Arial"/>
              </a:rPr>
              <a:t>Five whys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9443" y="3529584"/>
            <a:ext cx="19597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Keep asking why until the symptom gives up its root cause.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377440"/>
            <a:ext cx="2453563" cy="260604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25615" y="2670048"/>
            <a:ext cx="237744" cy="237744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7" y="3127248"/>
            <a:ext cx="19963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 i="0">
                <a:solidFill>
                  <a:srgbClr val="15171C"/>
                </a:solidFill>
                <a:latin typeface="Arial"/>
              </a:rPr>
              <a:t>Systems thinking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3529584"/>
            <a:ext cx="19597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Look at the whole flow. Where is the constraint, and the leverage?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0891" y="2377440"/>
            <a:ext cx="2453563" cy="260604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53499" y="2670048"/>
            <a:ext cx="237744" cy="237744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211" y="3127248"/>
            <a:ext cx="19963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 i="0">
                <a:solidFill>
                  <a:srgbClr val="15171C"/>
                </a:solidFill>
                <a:latin typeface="Arial"/>
              </a:rPr>
              <a:t>80 /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211" y="3529584"/>
            <a:ext cx="195978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Find the small share of cases that carries most of the value and risk.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 i="1">
                <a:solidFill>
                  <a:srgbClr val="394150"/>
                </a:solidFill>
                <a:latin typeface="Arial"/>
              </a:rPr>
              <a:t>The point: a creative solution is worthless if it solves the wrong problem. Models keep me honest.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THE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The case in front of me: a queue longer than the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47088"/>
            <a:ext cx="10637215" cy="1481328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48256"/>
            <a:ext cx="99971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1">
                <a:solidFill>
                  <a:srgbClr val="15171C"/>
                </a:solidFill>
                <a:latin typeface="Arial"/>
              </a:rPr>
              <a:t>“Most are 80% boilerplate. Where we get redlines, they are usually edits we have seen before. Right now, every single contract still gets read by a person, and the queue is usually longer than the day. At end of month or quarter it can get overwhelming.”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9AA0AA"/>
                </a:solidFill>
                <a:latin typeface="Arial"/>
              </a:rPr>
              <a:t>PortSwigger, the task brief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11880"/>
            <a:ext cx="3362858" cy="1481328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85615"/>
            <a:ext cx="29056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C07C00"/>
                </a:solidFill>
                <a:latin typeface="Arial"/>
              </a:rP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43984"/>
            <a:ext cx="28599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of a typical contract is boilerplate, agreed a hundred times 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4418" y="3611880"/>
            <a:ext cx="3362858" cy="1481328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8738" y="3785615"/>
            <a:ext cx="29056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DE3226"/>
                </a:solidFill>
                <a:latin typeface="Arial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8738" y="4443984"/>
            <a:ext cx="28599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still get a full cold read by a scarce, expensive human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3611880"/>
            <a:ext cx="3362858" cy="1481328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5916" y="3785615"/>
            <a:ext cx="29056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E14E12"/>
                </a:solidFill>
                <a:latin typeface="Arial"/>
              </a:rPr>
              <a:t>EoQ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5916" y="4443984"/>
            <a:ext cx="28599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A6472"/>
                </a:solidFill>
                <a:latin typeface="Arial"/>
              </a:rPr>
              <a:t>sales spikes turn the queue into a bottleneck on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2180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 i="1">
                <a:solidFill>
                  <a:srgbClr val="394150"/>
                </a:solidFill>
                <a:latin typeface="Arial"/>
              </a:rPr>
              <a:t>The cost is not just time. A slow queue slows every deal sitting behind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FIVE WHYS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Drilling past the symptom to the root of the issue.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76479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Why is the queue longer than the day?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013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764792"/>
            <a:ext cx="4785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472"/>
                </a:solidFill>
                <a:latin typeface="Arial"/>
              </a:rPr>
              <a:t>Every contract gets a full human read.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441448"/>
            <a:ext cx="384048" cy="384048"/>
          </a:xfrm>
          <a:prstGeom prst="ellipse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2423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Why does each one need a full read?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5973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23160"/>
            <a:ext cx="4785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472"/>
                </a:solidFill>
                <a:latin typeface="Arial"/>
              </a:rPr>
              <a:t>It is read cold, start to finish, every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99815"/>
            <a:ext cx="384048" cy="384048"/>
          </a:xfrm>
          <a:prstGeom prst="ellipse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08152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Why is it read cold?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1810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081527"/>
            <a:ext cx="4785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472"/>
                </a:solidFill>
                <a:latin typeface="Arial"/>
              </a:rPr>
              <a:t>There is no way to tell the safe ones from the risky ones up front.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758183"/>
            <a:ext cx="384048" cy="384048"/>
          </a:xfrm>
          <a:prstGeom prst="ellipse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0744" y="3739896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Why can't we tell them apart?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7647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739896"/>
            <a:ext cx="4785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472"/>
                </a:solidFill>
                <a:latin typeface="Arial"/>
              </a:rPr>
              <a:t>The team's standard positions live in people's heads, not in a checkable form.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416551"/>
            <a:ext cx="384048" cy="384048"/>
          </a:xfrm>
          <a:prstGeom prst="ellipse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" y="439826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Why is that the case?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43483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398264"/>
            <a:ext cx="4785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472"/>
                </a:solidFill>
                <a:latin typeface="Arial"/>
              </a:rPr>
              <a:t>The process was built around people, with no triage layer in front of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138928"/>
            <a:ext cx="10637215" cy="960120"/>
          </a:xfrm>
          <a:prstGeom prst="roundRect">
            <a:avLst>
              <a:gd name="adj" fmla="val 45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2852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E14E12"/>
                </a:solidFill>
                <a:latin typeface="Arial"/>
              </a:rPr>
              <a:t>ROOT CAUSE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5955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5171C"/>
                </a:solidFill>
                <a:latin typeface="Arial"/>
              </a:rPr>
              <a:t>A lawyer's scarce attention is spent identically on the safe 80% and the risky 20%. There is no risk-based triage. That is what I need to fix, not the reading speed.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FIRST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Reframed: contract review is a risk gate, not a reading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5A6472"/>
                </a:solidFill>
                <a:latin typeface="Arial"/>
              </a:rPr>
              <a:t>Strip it to the atoms and every review is the same five decisions: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847088" cy="105156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300" b="1">
                <a:solidFill>
                  <a:srgbClr val="15171C"/>
                </a:solidFill>
                <a:latin typeface="Arial"/>
              </a:rPr>
              <a:t>Read</a:t>
            </a:r>
          </a:p>
        </p:txBody>
      </p:sp>
      <p:sp>
        <p:nvSpPr>
          <p:cNvPr id="8" name="Oval 7"/>
          <p:cNvSpPr/>
          <p:nvPr/>
        </p:nvSpPr>
        <p:spPr>
          <a:xfrm>
            <a:off x="905256" y="2414016"/>
            <a:ext cx="310896" cy="310896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697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9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2286000"/>
            <a:ext cx="1847088" cy="105156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300" b="1">
                <a:solidFill>
                  <a:srgbClr val="15171C"/>
                </a:solidFill>
                <a:latin typeface="Arial"/>
              </a:rPr>
              <a:t>Classify</a:t>
            </a:r>
          </a:p>
        </p:txBody>
      </p:sp>
      <p:sp>
        <p:nvSpPr>
          <p:cNvPr id="11" name="Oval 10"/>
          <p:cNvSpPr/>
          <p:nvPr/>
        </p:nvSpPr>
        <p:spPr>
          <a:xfrm>
            <a:off x="3063240" y="2414016"/>
            <a:ext cx="310896" cy="310896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2697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9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3208" y="2286000"/>
            <a:ext cx="1847088" cy="105156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300" b="1">
                <a:solidFill>
                  <a:srgbClr val="15171C"/>
                </a:solidFill>
                <a:latin typeface="Arial"/>
              </a:rPr>
              <a:t>Compare
to standard</a:t>
            </a:r>
          </a:p>
        </p:txBody>
      </p:sp>
      <p:sp>
        <p:nvSpPr>
          <p:cNvPr id="14" name="Oval 13"/>
          <p:cNvSpPr/>
          <p:nvPr/>
        </p:nvSpPr>
        <p:spPr>
          <a:xfrm>
            <a:off x="5221224" y="2414016"/>
            <a:ext cx="310896" cy="310896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697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9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1192" y="2286000"/>
            <a:ext cx="1847088" cy="105156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300" b="1">
                <a:solidFill>
                  <a:srgbClr val="15171C"/>
                </a:solidFill>
                <a:latin typeface="Arial"/>
              </a:rPr>
              <a:t>Spot the
deviation</a:t>
            </a:r>
          </a:p>
        </p:txBody>
      </p:sp>
      <p:sp>
        <p:nvSpPr>
          <p:cNvPr id="17" name="Oval 16"/>
          <p:cNvSpPr/>
          <p:nvPr/>
        </p:nvSpPr>
        <p:spPr>
          <a:xfrm>
            <a:off x="7379208" y="2414016"/>
            <a:ext cx="310896" cy="310896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1" y="2697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9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9176" y="2286000"/>
            <a:ext cx="1847088" cy="105156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300" b="1">
                <a:solidFill>
                  <a:srgbClr val="15171C"/>
                </a:solidFill>
                <a:latin typeface="Arial"/>
              </a:rPr>
              <a:t>Accept /
redline /
escalate</a:t>
            </a:r>
          </a:p>
        </p:txBody>
      </p:sp>
      <p:sp>
        <p:nvSpPr>
          <p:cNvPr id="20" name="Oval 19"/>
          <p:cNvSpPr/>
          <p:nvPr/>
        </p:nvSpPr>
        <p:spPr>
          <a:xfrm>
            <a:off x="9537192" y="2414016"/>
            <a:ext cx="310896" cy="310896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94760"/>
            <a:ext cx="10637215" cy="169164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977639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E14E12"/>
                </a:solidFill>
                <a:latin typeface="Arial"/>
              </a:rPr>
              <a:t>THE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279392"/>
            <a:ext cx="99971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50" b="1">
                <a:solidFill>
                  <a:srgbClr val="15171C"/>
                </a:solidFill>
                <a:latin typeface="Arial"/>
              </a:rPr>
              <a:t>Only two of those five steps need legal judgement. The rest is mechanical.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50" b="0">
                <a:solidFill>
                  <a:srgbClr val="394150"/>
                </a:solidFill>
                <a:latin typeface="Arial"/>
              </a:rPr>
              <a:t>80% of contracts are boilerplate, and the redlines that come up are edits seen before: a finite, reusable playbook. So the share needing net-new legal thinking is small, and it shrinks as the playbook fills. Yet today one scarce resource, a lawyer's attention, is spent identically on the safe 80% and the risky 20%.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SYSTEMS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The fix is structural: insert a triage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DE3226"/>
                </a:solidFill>
                <a:latin typeface="Arial"/>
              </a:rPr>
              <a:t>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57984"/>
            <a:ext cx="585216" cy="475488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000" b="1">
                <a:solidFill>
                  <a:srgbClr val="5A6472"/>
                </a:solidFill>
                <a:latin typeface="Arial"/>
              </a:rPr>
              <a:t>NDA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53895" y="2157984"/>
            <a:ext cx="585216" cy="475488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000" b="1">
                <a:solidFill>
                  <a:srgbClr val="5A6472"/>
                </a:solidFill>
                <a:latin typeface="Arial"/>
              </a:rPr>
              <a:t>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2157984"/>
            <a:ext cx="585216" cy="475488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000" b="1">
                <a:solidFill>
                  <a:srgbClr val="5A6472"/>
                </a:solidFill>
                <a:latin typeface="Arial"/>
              </a:rPr>
              <a:t>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2157984"/>
            <a:ext cx="585216" cy="475488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000" b="1">
                <a:solidFill>
                  <a:srgbClr val="5A6472"/>
                </a:solidFill>
                <a:latin typeface="Arial"/>
              </a:rPr>
              <a:t>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24942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6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6472" y="2048256"/>
            <a:ext cx="1600200" cy="694944"/>
          </a:xfrm>
          <a:prstGeom prst="roundRect">
            <a:avLst>
              <a:gd name="adj" fmla="val 10000"/>
            </a:avLst>
          </a:prstGeom>
          <a:solidFill>
            <a:srgbClr val="DE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one human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21284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1">
                <a:solidFill>
                  <a:srgbClr val="394150"/>
                </a:solidFill>
                <a:latin typeface="Arial"/>
              </a:rPr>
              <a:t>Every item pays the same full cost. Volume spikes have nowhere to 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12A150"/>
                </a:solidFill>
                <a:latin typeface="Arial"/>
              </a:rPr>
              <a:t>WITH FIRSTPASS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56432"/>
            <a:ext cx="1234440" cy="77724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100" b="1">
                <a:solidFill>
                  <a:srgbClr val="15171C"/>
                </a:solidFill>
                <a:latin typeface="Arial"/>
              </a:rPr>
              <a:t>contracts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2264" y="36941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6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86584" y="3456432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triage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3346704"/>
            <a:ext cx="2697480" cy="402336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12A150"/>
                </a:solidFill>
                <a:latin typeface="Arial"/>
              </a:rPr>
              <a:t>GREEN  auto-clear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7368" y="3803904"/>
            <a:ext cx="2697480" cy="402336"/>
          </a:xfrm>
          <a:prstGeom prst="roundRect">
            <a:avLst>
              <a:gd name="adj" fmla="val 500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C07C00"/>
                </a:solidFill>
                <a:latin typeface="Arial"/>
              </a:rPr>
              <a:t>AMBER  confirm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87368" y="4261104"/>
            <a:ext cx="2697480" cy="402336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DE3226"/>
                </a:solidFill>
                <a:latin typeface="Arial"/>
              </a:rPr>
              <a:t>RED  escalate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3246120"/>
            <a:ext cx="4282135" cy="146304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40156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E14E12"/>
                </a:solidFill>
                <a:latin typeface="Arial"/>
              </a:rPr>
              <a:t>You already do this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730752"/>
            <a:ext cx="38249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394150"/>
                </a:solidFill>
                <a:latin typeface="Arial"/>
              </a:rPr>
              <a:t>Burp Suite triages security findings by severity so humans focus on the real threats. FirstPass is the same move, pointed at the contract queue.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 i="1">
                <a:solidFill>
                  <a:srgbClr val="394150"/>
                </a:solidFill>
                <a:latin typeface="Arial"/>
              </a:rPr>
              <a:t>Leverage point: route attention by risk, so human judgement flows only to the 20% that needs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BUSINESS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The process, its friction, and the right fix at each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1">
                <a:solidFill>
                  <a:srgbClr val="5A6472"/>
                </a:solidFill>
                <a:latin typeface="Arial"/>
              </a:rPr>
              <a:t>Not everything should be AI. I picked the right tool for each point in the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13432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Intake &amp; parse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9272" y="2286000"/>
            <a:ext cx="4892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472"/>
                </a:solidFill>
                <a:latin typeface="Arial"/>
              </a:rPr>
              <a:t>Mixed formats, manual logging, no priority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94150"/>
                </a:solidFill>
                <a:latin typeface="Arial"/>
              </a:rPr>
              <a:t>Auto-ingest and extract. This is n8n / RPA territory.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414016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F6FB0"/>
                </a:solidFill>
                <a:latin typeface="Arial"/>
              </a:rPr>
              <a:t>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53512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Classify &amp; pull terms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2926080"/>
            <a:ext cx="4892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472"/>
                </a:solidFill>
                <a:latin typeface="Arial"/>
              </a:rPr>
              <a:t>Implicit, redone by hand every time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94150"/>
                </a:solidFill>
                <a:latin typeface="Arial"/>
              </a:rPr>
              <a:t>The model reads and understands the document.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054096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E14E12"/>
                </a:solidFill>
                <a:latin typeface="Arial"/>
              </a:rPr>
              <a:t>AGENTIC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93592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Check the playbook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3566160"/>
            <a:ext cx="4892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472"/>
                </a:solidFill>
                <a:latin typeface="Arial"/>
              </a:rPr>
              <a:t>Standard positions live in people's heads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94150"/>
                </a:solidFill>
                <a:latin typeface="Arial"/>
              </a:rPr>
              <a:t>Retrieve the position, match the clause by meaning.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3694176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E14E12"/>
                </a:solidFill>
                <a:latin typeface="Arial"/>
              </a:rPr>
              <a:t>AGENTIC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33672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Spot risk &amp; red 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4206240"/>
            <a:ext cx="4892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472"/>
                </a:solidFill>
                <a:latin typeface="Arial"/>
              </a:rPr>
              <a:t>Fatigue, and the risky 20% slips through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94150"/>
                </a:solidFill>
                <a:latin typeface="Arial"/>
              </a:rPr>
              <a:t>Rules for hard flags, the agent for paraphrase and novelty.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334256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C07C00"/>
                </a:solidFill>
                <a:latin typeface="Arial"/>
              </a:rPr>
              <a:t>HYBRID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73752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Draft redline &amp; 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4846320"/>
            <a:ext cx="4892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472"/>
                </a:solidFill>
                <a:latin typeface="Arial"/>
              </a:rPr>
              <a:t>Re-writing edits seen before; first-in-first-out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94150"/>
                </a:solidFill>
                <a:latin typeface="Arial"/>
              </a:rPr>
              <a:t>Draft from the playbook, score GREEN / AMBER / 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4974336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E14E12"/>
                </a:solidFill>
                <a:latin typeface="Arial"/>
              </a:rPr>
              <a:t>AGENTIC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13832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Decide &amp; capture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9272" y="5486400"/>
            <a:ext cx="4892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5A6472"/>
                </a:solidFill>
                <a:latin typeface="Arial"/>
              </a:rPr>
              <a:t>Nothing is learned; novel issues re-solved each time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394150"/>
                </a:solidFill>
                <a:latin typeface="Arial"/>
              </a:rPr>
              <a:t>The lawyer decides RED; the decision feeds the knowledge base.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5614416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12A150"/>
                </a:solidFill>
                <a:latin typeface="Arial"/>
              </a:rPr>
              <a:t>HUMAN +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One agentic loop: contract in, a routed and redlined decision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100" b="1">
                <a:solidFill>
                  <a:srgbClr val="15171C"/>
                </a:solidFill>
                <a:latin typeface="Arial"/>
              </a:rPr>
              <a:t>Ingest</a:t>
            </a:r>
          </a:p>
        </p:txBody>
      </p:sp>
      <p:sp>
        <p:nvSpPr>
          <p:cNvPr id="7" name="Oval 6"/>
          <p:cNvSpPr/>
          <p:nvPr/>
        </p:nvSpPr>
        <p:spPr>
          <a:xfrm>
            <a:off x="886968" y="2258568"/>
            <a:ext cx="274320" cy="27432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9696" y="24871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5144" y="21488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100" b="1">
                <a:solidFill>
                  <a:srgbClr val="15171C"/>
                </a:solidFill>
                <a:latin typeface="Arial"/>
              </a:rPr>
              <a:t>Classify</a:t>
            </a:r>
          </a:p>
        </p:txBody>
      </p:sp>
      <p:sp>
        <p:nvSpPr>
          <p:cNvPr id="10" name="Oval 9"/>
          <p:cNvSpPr/>
          <p:nvPr/>
        </p:nvSpPr>
        <p:spPr>
          <a:xfrm>
            <a:off x="2404872" y="2258568"/>
            <a:ext cx="274320" cy="27432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871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3048" y="21488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100" b="1">
                <a:solidFill>
                  <a:srgbClr val="15171C"/>
                </a:solidFill>
                <a:latin typeface="Arial"/>
              </a:rPr>
              <a:t>Retrieve
playbook</a:t>
            </a:r>
          </a:p>
        </p:txBody>
      </p:sp>
      <p:sp>
        <p:nvSpPr>
          <p:cNvPr id="13" name="Oval 12"/>
          <p:cNvSpPr/>
          <p:nvPr/>
        </p:nvSpPr>
        <p:spPr>
          <a:xfrm>
            <a:off x="3922776" y="2258568"/>
            <a:ext cx="274320" cy="27432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4871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0952" y="21488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100" b="1">
                <a:solidFill>
                  <a:srgbClr val="15171C"/>
                </a:solidFill>
                <a:latin typeface="Arial"/>
              </a:rPr>
              <a:t>Detect</a:t>
            </a:r>
          </a:p>
        </p:txBody>
      </p:sp>
      <p:sp>
        <p:nvSpPr>
          <p:cNvPr id="16" name="Oval 15"/>
          <p:cNvSpPr/>
          <p:nvPr/>
        </p:nvSpPr>
        <p:spPr>
          <a:xfrm>
            <a:off x="5440680" y="2258568"/>
            <a:ext cx="274320" cy="27432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4871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48856" y="21488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100" b="1">
                <a:solidFill>
                  <a:srgbClr val="15171C"/>
                </a:solidFill>
                <a:latin typeface="Arial"/>
              </a:rPr>
              <a:t>Score</a:t>
            </a:r>
          </a:p>
        </p:txBody>
      </p:sp>
      <p:sp>
        <p:nvSpPr>
          <p:cNvPr id="19" name="Oval 18"/>
          <p:cNvSpPr/>
          <p:nvPr/>
        </p:nvSpPr>
        <p:spPr>
          <a:xfrm>
            <a:off x="6958584" y="2258568"/>
            <a:ext cx="274320" cy="27432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4871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21488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100" b="1">
                <a:solidFill>
                  <a:srgbClr val="15171C"/>
                </a:solidFill>
                <a:latin typeface="Arial"/>
              </a:rPr>
              <a:t>Draft
redline</a:t>
            </a:r>
          </a:p>
        </p:txBody>
      </p:sp>
      <p:sp>
        <p:nvSpPr>
          <p:cNvPr id="22" name="Oval 21"/>
          <p:cNvSpPr/>
          <p:nvPr/>
        </p:nvSpPr>
        <p:spPr>
          <a:xfrm>
            <a:off x="8476488" y="2258568"/>
            <a:ext cx="274320" cy="27432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9216" y="24871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84664" y="21488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100" b="1">
                <a:solidFill>
                  <a:srgbClr val="15171C"/>
                </a:solidFill>
                <a:latin typeface="Arial"/>
              </a:rPr>
              <a:t>Route</a:t>
            </a:r>
          </a:p>
        </p:txBody>
      </p:sp>
      <p:sp>
        <p:nvSpPr>
          <p:cNvPr id="25" name="Oval 24"/>
          <p:cNvSpPr/>
          <p:nvPr/>
        </p:nvSpPr>
        <p:spPr>
          <a:xfrm>
            <a:off x="9994392" y="2258568"/>
            <a:ext cx="274320" cy="27432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401568"/>
            <a:ext cx="10637215" cy="457200"/>
          </a:xfrm>
          <a:prstGeom prst="roundRect">
            <a:avLst>
              <a:gd name="adj" fmla="val 16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474720"/>
            <a:ext cx="10180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8   LEARN     the lawyer's decision is written back to the playbook, so next time it is routine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114800"/>
            <a:ext cx="3362858" cy="141732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2976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12A150"/>
                </a:solidFill>
                <a:latin typeface="Arial"/>
              </a:rPr>
              <a:t>GREEN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809744"/>
            <a:ext cx="28599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394150"/>
                </a:solidFill>
                <a:latin typeface="Arial"/>
              </a:rPr>
              <a:t>Auto-clear with a spot-check.
Never auto-signed.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14418" y="4114800"/>
            <a:ext cx="3362858" cy="141732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88738" y="42976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C07C00"/>
                </a:solidFill>
                <a:latin typeface="Arial"/>
              </a:rPr>
              <a:t>AMBER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8738" y="4809744"/>
            <a:ext cx="28599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394150"/>
                </a:solidFill>
                <a:latin typeface="Arial"/>
              </a:rPr>
              <a:t>Known deviation. The redline is
already drafted. Lawyer confirms.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51596" y="4114800"/>
            <a:ext cx="3362858" cy="141732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25916" y="42976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DE3226"/>
                </a:solidFill>
                <a:latin typeface="Arial"/>
              </a:rPr>
              <a:t>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5916" y="4809744"/>
            <a:ext cx="28599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394150"/>
                </a:solidFill>
                <a:latin typeface="Arial"/>
              </a:rPr>
              <a:t>Novel or high risk. Escalate
with terms and issues pre-extracted.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WHY AN AGENTIC LOOP, NOT N8N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Deterministic automation is the wrong tool for a judgement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94150"/>
                </a:solidFill>
                <a:latin typeface="Arial"/>
              </a:rPr>
              <a:t>n8n, Zapier and RPA are excellent when the logic can be fully specified up front. Contract wording never can: it is unstructured, endlessly paraphrased, and full of clauses no fixed rule has seen. That is a reasoning problem, not a plumbing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10637215" cy="278892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9AA0AA"/>
                </a:solidFill>
                <a:latin typeface="Arial"/>
              </a:rPr>
              <a:t>WHAT THE JOB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65176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 i="0">
                <a:solidFill>
                  <a:srgbClr val="9AA0AA"/>
                </a:solidFill>
                <a:latin typeface="Arial"/>
              </a:rPr>
              <a:t>n8n / RPA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65176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 i="0">
                <a:solidFill>
                  <a:srgbClr val="9AA0AA"/>
                </a:solidFill>
                <a:latin typeface="Arial"/>
              </a:rPr>
              <a:t>Rules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65176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 i="0">
                <a:solidFill>
                  <a:srgbClr val="9AA0AA"/>
                </a:solidFill>
                <a:latin typeface="Arial"/>
              </a:rPr>
              <a:t>Agentic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3580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5171C"/>
                </a:solidFill>
                <a:latin typeface="Arial"/>
              </a:rPr>
              <a:t>Move data and call APIs (the plumbing)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01752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12A150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01752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C07C00"/>
                </a:solidFill>
                <a:latin typeface="Arial"/>
              </a:rPr>
              <a:t>~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301752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C07C00"/>
                </a:solidFill>
                <a:latin typeface="Arial"/>
              </a:rPr>
              <a:t>~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0156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5171C"/>
                </a:solidFill>
                <a:latin typeface="Arial"/>
              </a:rPr>
              <a:t>Understand unstructured contract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383279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9AA0AA"/>
                </a:solidFill>
                <a:latin typeface="Arial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383279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C07C00"/>
                </a:solidFill>
                <a:latin typeface="Arial"/>
              </a:rPr>
              <a:t>~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383279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12A150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6732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5171C"/>
                </a:solidFill>
                <a:latin typeface="Arial"/>
              </a:rPr>
              <a:t>Handle paraphrased or novel clauses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374904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9AA0AA"/>
                </a:solidFill>
                <a:latin typeface="Arial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74904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9AA0AA"/>
                </a:solidFill>
                <a:latin typeface="Arial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74904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12A150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3308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5171C"/>
                </a:solidFill>
                <a:latin typeface="Arial"/>
              </a:rPr>
              <a:t>Apply a risk policy and judgement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411480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9AA0AA"/>
                </a:solidFill>
                <a:latin typeface="Arial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11480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C07C00"/>
                </a:solidFill>
                <a:latin typeface="Arial"/>
              </a:rPr>
              <a:t>~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11480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12A150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49884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5171C"/>
                </a:solidFill>
                <a:latin typeface="Arial"/>
              </a:rPr>
              <a:t>Improve from feedback over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448056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9AA0AA"/>
                </a:solidFill>
                <a:latin typeface="Arial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448056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9AA0AA"/>
                </a:solidFill>
                <a:latin typeface="Arial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448056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12A150"/>
                </a:solidFill>
                <a:latin typeface="Arial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864608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5171C"/>
                </a:solidFill>
                <a:latin typeface="Arial"/>
              </a:rPr>
              <a:t>Explainable, with a human in the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484632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C07C00"/>
                </a:solidFill>
                <a:latin typeface="Arial"/>
              </a:rPr>
              <a:t>~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84632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12A150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84632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 i="0">
                <a:solidFill>
                  <a:srgbClr val="12A150"/>
                </a:solidFill>
                <a:latin typeface="Arial"/>
              </a:rP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440680"/>
            <a:ext cx="10637215" cy="658368"/>
          </a:xfrm>
          <a:prstGeom prst="roundRect">
            <a:avLst>
              <a:gd name="adj" fmla="val 12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541264"/>
            <a:ext cx="99971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E14E12"/>
                </a:solidFill>
                <a:latin typeface="Arial"/>
              </a:rPr>
              <a:t>Not either / or: n8n moves the contracts, the agentic loop reviews them. Deterministic automation for the pipes, an agentic loop for the judgement, a human on the risky 20%.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IT RUNS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A working console, not a mockup.</a:t>
            </a:r>
          </a:p>
        </p:txBody>
      </p:sp>
      <p:pic>
        <p:nvPicPr>
          <p:cNvPr id="6" name="Picture 5" descr="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6350216" cy="4389120"/>
          </a:xfrm>
          <a:prstGeom prst="rect">
            <a:avLst/>
          </a:prstGeom>
          <a:ln w="15875">
            <a:solidFill>
              <a:srgbClr val="E1E5EA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269479" y="1965960"/>
            <a:ext cx="41449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15171C"/>
                </a:solidFill>
                <a:latin typeface="Arial"/>
              </a:rPr>
              <a:t>The queue a lawyer opens each morning.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>
                <a:solidFill>
                  <a:srgbClr val="5A6472"/>
                </a:solidFill>
                <a:latin typeface="Arial"/>
              </a:rPr>
              <a:t>Sorted by risk. The safe 80% is already cleared, the redlines are drafted, and only the real risk is waiting for a human.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79" y="3794760"/>
            <a:ext cx="4144975" cy="1280160"/>
          </a:xfrm>
          <a:prstGeom prst="roundRect">
            <a:avLst>
              <a:gd name="adj" fmla="val 45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1" y="396849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12A150"/>
                </a:solidFill>
                <a:latin typeface="Arial"/>
              </a:rPr>
              <a:t>🔒  Runs on your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5511" y="4297680"/>
            <a:ext cx="36420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394150"/>
                </a:solidFill>
                <a:latin typeface="Arial"/>
              </a:rPr>
              <a:t>In-browser, local, offline. No contract text ever leaves the building.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INSIDE A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Every issue arrives with the redline already drafted.</a:t>
            </a:r>
          </a:p>
        </p:txBody>
      </p:sp>
      <p:pic>
        <p:nvPicPr>
          <p:cNvPr id="6" name="Picture 5" descr="shot_detail_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216729" cy="4526280"/>
          </a:xfrm>
          <a:prstGeom prst="rect">
            <a:avLst/>
          </a:prstGeom>
          <a:ln w="15875">
            <a:solidFill>
              <a:srgbClr val="E1E5EA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766559" y="1965960"/>
            <a:ext cx="464789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15171C"/>
                </a:solidFill>
                <a:latin typeface="Arial"/>
              </a:rPr>
              <a:t>The lawyer confirms, they do not start from scratch.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5A6472"/>
                </a:solidFill>
                <a:latin typeface="Arial"/>
              </a:rPr>
              <a:t>Key terms extracted. Each deviation shows the evidence, the plain-English reason, and the exact redline the team has used before.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15171C"/>
                </a:solidFill>
                <a:latin typeface="Arial"/>
              </a:rPr>
              <a:t>Accept, edit or reject. One click.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59" y="5257800"/>
            <a:ext cx="4647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1">
                <a:solidFill>
                  <a:srgbClr val="E14E12"/>
                </a:solidFill>
                <a:latin typeface="Arial"/>
              </a:rPr>
              <a:t>This is the artefact someone uses on Monday morning.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DOES IT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Measured properly, on a labelled set, reproducibly.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2480995" cy="155448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66543"/>
            <a:ext cx="21152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2A15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724912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472"/>
                </a:solidFill>
                <a:latin typeface="Arial"/>
              </a:rPr>
              <a:t>unsafe misses: nothing risky was auto-cleared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5979" y="1874519"/>
            <a:ext cx="2480995" cy="155448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52011" y="2066543"/>
            <a:ext cx="21152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2011" y="2724912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472"/>
                </a:solidFill>
                <a:latin typeface="Arial"/>
              </a:rPr>
              <a:t>triage verdict accuracy (10 of 10)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9" y="1874519"/>
            <a:ext cx="2480995" cy="155448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751" y="2066543"/>
            <a:ext cx="21152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C07C00"/>
                </a:solidFill>
                <a:latin typeface="Arial"/>
              </a:rPr>
              <a:t>93 / 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2724912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472"/>
                </a:solidFill>
                <a:latin typeface="Arial"/>
              </a:rPr>
              <a:t>material-issue precision / recall, no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459" y="1874519"/>
            <a:ext cx="2480995" cy="155448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491" y="2066543"/>
            <a:ext cx="21152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E14E12"/>
                </a:solidFill>
                <a:latin typeface="Arial"/>
              </a:rPr>
              <a:t>58%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491" y="2724912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A6472"/>
                </a:solidFill>
                <a:latin typeface="Arial"/>
              </a:rPr>
              <a:t>of human review minutes removed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57600"/>
            <a:ext cx="5623560" cy="1874519"/>
          </a:xfrm>
          <a:prstGeom prst="roundRect">
            <a:avLst>
              <a:gd name="adj" fmla="val 45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8404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E14E12"/>
                </a:solidFill>
                <a:latin typeface="Arial"/>
              </a:rPr>
              <a:t>EXTRAPOLATED TO 200 CONTRACTS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133087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15171C"/>
                </a:solidFill>
                <a:latin typeface="Arial"/>
              </a:rPr>
              <a:t>~73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394150"/>
                </a:solidFill>
                <a:latin typeface="Arial"/>
              </a:rPr>
              <a:t>of legal time returned every month, about two weeks of a reviewer, pointed back at real risk.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657600"/>
            <a:ext cx="4785055" cy="1874519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38404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9AA0AA"/>
                </a:solidFill>
                <a:latin typeface="Arial"/>
              </a:rPr>
              <a:t>EXTERNAL BENCHMARK  ·  LAWGEEX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206240"/>
            <a:ext cx="42364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2A150"/>
                </a:solidFill>
                <a:latin typeface="Arial"/>
              </a:rPr>
              <a:t>94% vs 85%   AI beat 20 lawyers at NDA issue-spotting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12A150"/>
                </a:solidFill>
                <a:latin typeface="Arial"/>
              </a:rPr>
              <a:t>26 sec vs 92 min   average review time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5A6472"/>
                </a:solidFill>
                <a:latin typeface="Arial"/>
              </a:rPr>
              <a:t>The category is proven. This applies it to your queue, privately.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IT GETS SMARTER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A knowledge base and a skill set that grow with every case.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250" b="1">
                <a:solidFill>
                  <a:srgbClr val="15171C"/>
                </a:solidFill>
                <a:latin typeface="Arial"/>
              </a:rPr>
              <a:t>A lawyer resolves
a novel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3824" y="24505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9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205740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C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250" b="1">
                <a:solidFill>
                  <a:srgbClr val="15171C"/>
                </a:solidFill>
                <a:latin typeface="Arial"/>
              </a:rPr>
              <a:t>It becomes a rule
in the 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1" y="24505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9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5" y="205740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250" b="1">
                <a:solidFill>
                  <a:srgbClr val="15171C"/>
                </a:solidFill>
                <a:latin typeface="Arial"/>
              </a:rPr>
              <a:t>That case is now
routine, redline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4505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900" b="1" i="0">
                <a:solidFill>
                  <a:srgbClr val="FF6633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24543" y="205740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/>
          <a:lstStyle/>
          <a:p>
            <a:pPr algn="ctr"/>
            <a:r>
              <a:rPr sz="1250" b="1">
                <a:solidFill>
                  <a:srgbClr val="15171C"/>
                </a:solidFill>
                <a:latin typeface="Arial"/>
              </a:rPr>
              <a:t>Next month's queue
is shorter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20440"/>
            <a:ext cx="5257800" cy="201168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7033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E14E12"/>
                </a:solidFill>
                <a:latin typeface="Arial"/>
              </a:rPr>
              <a:t>KNOWLEDGE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23360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94150"/>
                </a:solidFill>
                <a:latin typeface="Arial"/>
              </a:rPr>
              <a:t>The playbook is plain English. Every decision a lawyer makes is captured as a rule with the redline they used. It fills with PortSwigger's own positions, so the system knows more each week.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520440"/>
            <a:ext cx="5105095" cy="201168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37033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E14E12"/>
                </a:solidFill>
                <a:latin typeface="Arial"/>
              </a:rPr>
              <a:t>SKILLS THAT COMPOUND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023360"/>
            <a:ext cx="45564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94150"/>
                </a:solidFill>
                <a:latin typeface="Arial"/>
              </a:rPr>
              <a:t>A new contract type or clause is not new code, it is a new skill added to the playbook. The agent's abilities grow without an engineer, and none of it is lost when I leave.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1">
                <a:solidFill>
                  <a:srgbClr val="394150"/>
                </a:solidFill>
                <a:latin typeface="Arial"/>
              </a:rPr>
              <a:t>Demonstrated: python evals/demo_learning.py closes the one gap the eval found, recall 93% to 100%, one playbook edit, no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PRIVATE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Local AI on your server, and built to the standards that matter.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74920" cy="214884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99339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E14E12"/>
                </a:solidFill>
                <a:latin typeface="Arial"/>
              </a:rPr>
              <a:t>WHY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04288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394150"/>
                </a:solidFill>
                <a:latin typeface="Arial"/>
              </a:rPr>
              <a:t>Contracts are privileged and confidential, and you are a security company. So the reasoning model runs on your own server, not a third-party API. No contract text ever leaves your infrastructure: privacy is kept by construction, not by policy.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42255" cy="2148840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99339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E14E12"/>
                </a:solidFill>
                <a:latin typeface="Arial"/>
              </a:rPr>
              <a:t>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304288"/>
            <a:ext cx="469361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394150"/>
                </a:solidFill>
                <a:latin typeface="Arial"/>
              </a:rPr>
              <a:t>The deterministic engine needs no model at all: that is the floor. The reasoning layer is an open-weight model (Hermes 3, Llama 3.3, Qwen, Mistral) served locally with Ollama or vLLM. It ships as a skill on day one, then moves fully in-house.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245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E14E12"/>
                </a:solidFill>
                <a:latin typeface="Arial"/>
              </a:rPr>
              <a:t>BUILT TO THE STANDARDS THAT MATTER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53712"/>
            <a:ext cx="2494711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700016"/>
            <a:ext cx="2165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5171C"/>
                </a:solidFill>
                <a:latin typeface="Arial"/>
              </a:rPr>
              <a:t>UK GDPR / DPA 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5175504"/>
            <a:ext cx="2147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A6472"/>
                </a:solidFill>
                <a:latin typeface="Arial"/>
              </a:rPr>
              <a:t>Personal data in contracts, handled lawfully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1407" y="4553712"/>
            <a:ext cx="2494711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2575" y="4700016"/>
            <a:ext cx="2165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5171C"/>
                </a:solidFill>
                <a:latin typeface="Arial"/>
              </a:rPr>
              <a:t>ISO/IEC 27001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2575" y="5175504"/>
            <a:ext cx="2147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A6472"/>
                </a:solidFill>
                <a:latin typeface="Arial"/>
              </a:rPr>
              <a:t>Information security, on-prem by default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5575" y="4553712"/>
            <a:ext cx="2494711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6743" y="4700016"/>
            <a:ext cx="2165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5171C"/>
                </a:solidFill>
                <a:latin typeface="Arial"/>
              </a:rPr>
              <a:t>ISO/IEC 42001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6743" y="5175504"/>
            <a:ext cx="2147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A6472"/>
                </a:solidFill>
                <a:latin typeface="Arial"/>
              </a:rPr>
              <a:t>AI management system, governed and audited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9743" y="4553712"/>
            <a:ext cx="2494711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0911" y="4700016"/>
            <a:ext cx="2165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5171C"/>
                </a:solidFill>
                <a:latin typeface="Arial"/>
              </a:rPr>
              <a:t>EU AI Act / NIST AI RMF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0911" y="5175504"/>
            <a:ext cx="21472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A6472"/>
                </a:solidFill>
                <a:latin typeface="Arial"/>
              </a:rPr>
              <a:t>Human-in-the-loop, explainable, risk-based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FirstPass  ·  AI Pioneer  ·  Abdelrhman Rayis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50" b="0" i="0">
                <a:solidFill>
                  <a:srgbClr val="9AA0AA"/>
                </a:solidFill>
                <a:latin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 i="0">
                <a:solidFill>
                  <a:srgbClr val="E14E12"/>
                </a:solidFill>
                <a:latin typeface="Arial"/>
              </a:rPr>
              <a:t>MY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100" b="1" i="0">
                <a:solidFill>
                  <a:srgbClr val="15171C"/>
                </a:solidFill>
                <a:latin typeface="Arial"/>
              </a:rPr>
              <a:t>Why I applied, and how I would add value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E14E12"/>
                </a:solidFill>
                <a:latin typeface="Arial"/>
              </a:rPr>
              <a:t>WHY I APPLIED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4892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5171C"/>
                </a:solidFill>
                <a:latin typeface="Arial"/>
              </a:rPr>
              <a:t>PortSwigger is treating AI as the way it works, not a side project.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0">
                <a:solidFill>
                  <a:srgbClr val="5A6472"/>
                </a:solidFill>
                <a:latin typeface="Arial"/>
              </a:rPr>
              <a:t>I already do this: drop into a domain, build a real thing, measure it, hand it over.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0">
                <a:solidFill>
                  <a:srgbClr val="5A6472"/>
                </a:solidFill>
                <a:latin typeface="Arial"/>
              </a:rPr>
              <a:t>I want to be somewhere the ambition and the tooling are taken seriously.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7451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E14E12"/>
                </a:solidFill>
                <a:latin typeface="Arial"/>
              </a:rPr>
              <a:t>HOW I ADD VALUE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2267712"/>
            <a:ext cx="182880" cy="18288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03704"/>
            <a:ext cx="4785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Ship artefacts, not 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785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5A6472"/>
                </a:solidFill>
                <a:latin typeface="Arial"/>
              </a:rPr>
              <a:t>A working tool someone uses on Monday.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3017520"/>
            <a:ext cx="182880" cy="18288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953512"/>
            <a:ext cx="4785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Bring the expert with 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264408"/>
            <a:ext cx="4785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5A6472"/>
                </a:solidFill>
                <a:latin typeface="Arial"/>
              </a:rPr>
              <a:t>I work alongside the domain expert, not above them.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3767328"/>
            <a:ext cx="182880" cy="18288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703320"/>
            <a:ext cx="4785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Measure everything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014215"/>
            <a:ext cx="4785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5A6472"/>
                </a:solidFill>
                <a:latin typeface="Arial"/>
              </a:rPr>
              <a:t>I care as much about the eval as the build.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4517136"/>
            <a:ext cx="182880" cy="182880"/>
          </a:xfrm>
          <a:prstGeom prst="ellipse">
            <a:avLst/>
          </a:prstGeom>
          <a:solidFill>
            <a:srgbClr val="FF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453128"/>
            <a:ext cx="4785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 i="0">
                <a:solidFill>
                  <a:srgbClr val="15171C"/>
                </a:solidFill>
                <a:latin typeface="Arial"/>
              </a:rPr>
              <a:t>Leave capability, not 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764024"/>
            <a:ext cx="4785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5A6472"/>
                </a:solidFill>
                <a:latin typeface="Arial"/>
              </a:rPr>
              <a:t>The playbook and skills stay when I move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1371600"/>
            <a:ext cx="182880" cy="182880"/>
          </a:xfrm>
          <a:prstGeom prst="ellipse">
            <a:avLst/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" y="1371600"/>
            <a:ext cx="182880" cy="182880"/>
          </a:xfrm>
          <a:prstGeom prst="ellipse">
            <a:avLst/>
          </a:prstGeom>
          <a:solidFill>
            <a:srgbClr val="C0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62456" y="1371600"/>
            <a:ext cx="182880" cy="182880"/>
          </a:xfrm>
          <a:prstGeom prst="ellipse">
            <a:avLst/>
          </a:prstGeom>
          <a:solidFill>
            <a:srgbClr val="DE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83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200" b="1" i="0">
                <a:solidFill>
                  <a:srgbClr val="15171C"/>
                </a:solidFill>
                <a:latin typeface="Arial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 i="0">
                <a:solidFill>
                  <a:srgbClr val="E14E12"/>
                </a:solidFill>
                <a:latin typeface="Arial"/>
              </a:rPr>
              <a:t>This was one corner. There are twenty-five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9966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600" b="0">
                <a:solidFill>
                  <a:srgbClr val="15171C"/>
                </a:solidFill>
                <a:latin typeface="Arial"/>
              </a:rPr>
              <a:t>The legal queue was the brief. The method is the point: find the risk gate, insert triage, measure it, keep it private, teach it to compound, then move on.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600" b="0">
                <a:solidFill>
                  <a:srgbClr val="5A6472"/>
                </a:solidFill>
                <a:latin typeface="Arial"/>
              </a:rPr>
              <a:t>Legal today. Support, marketing, finance, recruitment next. Same loop, new domain.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000" b="1" i="0">
                <a:solidFill>
                  <a:srgbClr val="15171C"/>
                </a:solidFill>
                <a:latin typeface="Arial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5A6472"/>
                </a:solidFill>
                <a:latin typeface="Arial"/>
              </a:rPr>
              <a:t>Abdelrhman Rayis   ·   abdelrhman.rayis@gmail.com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26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9AA0AA"/>
                </a:solidFill>
                <a:latin typeface="Arial"/>
              </a:rPr>
              <a:t>Prototype, live console, evals and this deck are all in the submitted repo.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